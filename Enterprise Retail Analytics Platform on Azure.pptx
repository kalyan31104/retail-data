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56" r:id="rId3"/>
    <p:sldId id="257" r:id="rId4"/>
    <p:sldId id="258" r:id="rId5"/>
    <p:sldId id="268" r:id="rId6"/>
    <p:sldId id="269" r:id="rId7"/>
    <p:sldId id="270" r:id="rId8"/>
    <p:sldId id="271" r:id="rId9"/>
    <p:sldId id="272" r:id="rId10"/>
    <p:sldId id="273" r:id="rId11"/>
    <p:sldId id="259" r:id="rId12"/>
    <p:sldId id="282" r:id="rId13"/>
    <p:sldId id="277" r:id="rId14"/>
    <p:sldId id="261" r:id="rId15"/>
    <p:sldId id="262" r:id="rId16"/>
    <p:sldId id="263" r:id="rId17"/>
    <p:sldId id="264" r:id="rId18"/>
    <p:sldId id="265" r:id="rId19"/>
    <p:sldId id="266" r:id="rId20"/>
    <p:sldId id="267" r:id="rId21"/>
    <p:sldId id="274" r:id="rId22"/>
    <p:sldId id="275" r:id="rId23"/>
    <p:sldId id="276" r:id="rId24"/>
    <p:sldId id="278" r:id="rId25"/>
    <p:sldId id="279" r:id="rId26"/>
    <p:sldId id="280" r:id="rId27"/>
    <p:sldId id="281"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2B"/>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516"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BBD0785-1FF9-4D10-A51F-E24DE7ADE9B4}"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BD0785-1FF9-4D10-A51F-E24DE7ADE9B4}"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BBD0785-1FF9-4D10-A51F-E24DE7ADE9B4}"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BBD0785-1FF9-4D10-A51F-E24DE7ADE9B4}"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BBD0785-1FF9-4D10-A51F-E24DE7ADE9B4}" type="datetimeFigureOut">
              <a:rPr lang="en-US" smtClean="0"/>
              <a:pPr/>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BD0785-1FF9-4D10-A51F-E24DE7ADE9B4}" type="datetimeFigureOut">
              <a:rPr lang="en-US" smtClean="0"/>
              <a:pPr/>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BD0785-1FF9-4D10-A51F-E24DE7ADE9B4}" type="datetimeFigureOut">
              <a:rPr lang="en-US" smtClean="0"/>
              <a:pPr/>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BD0785-1FF9-4D10-A51F-E24DE7ADE9B4}"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BD0785-1FF9-4D10-A51F-E24DE7ADE9B4}"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BD0785-1FF9-4D10-A51F-E24DE7ADE9B4}"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BD0785-1FF9-4D10-A51F-E24DE7ADE9B4}"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0498B-B560-417F-83B1-CFF549A3172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BD0785-1FF9-4D10-A51F-E24DE7ADE9B4}" type="datetimeFigureOut">
              <a:rPr lang="en-US" smtClean="0"/>
              <a:pPr/>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0498B-B560-417F-83B1-CFF549A3172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Kalyan31104/retail-data/blob/main/raw/customers/customers.csv.csv" TargetMode="Externa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github.com/Kalyan31104/retail-data/blob/main/raw/orders/orders.csv.csv"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Kalyan31104/retail-data/blob/main/raw/exchange_rates/exchange_rates.json"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2888392" cy="6858000"/>
            <a:chOff x="0" y="0"/>
            <a:chExt cx="1561918" cy="3708511"/>
          </a:xfrm>
        </p:grpSpPr>
        <p:sp>
          <p:nvSpPr>
            <p:cNvPr id="3" name="Freeform 3"/>
            <p:cNvSpPr/>
            <p:nvPr/>
          </p:nvSpPr>
          <p:spPr>
            <a:xfrm>
              <a:off x="0" y="0"/>
              <a:ext cx="1561918" cy="3708510"/>
            </a:xfrm>
            <a:custGeom>
              <a:avLst/>
              <a:gdLst/>
              <a:ahLst/>
              <a:cxnLst/>
              <a:rect l="l" t="t" r="r" b="b"/>
              <a:pathLst>
                <a:path w="1561918" h="3708510">
                  <a:moveTo>
                    <a:pt x="0" y="0"/>
                  </a:moveTo>
                  <a:lnTo>
                    <a:pt x="1561918" y="0"/>
                  </a:lnTo>
                  <a:lnTo>
                    <a:pt x="1561918" y="3708510"/>
                  </a:lnTo>
                  <a:lnTo>
                    <a:pt x="0" y="3708510"/>
                  </a:lnTo>
                  <a:close/>
                </a:path>
              </a:pathLst>
            </a:custGeom>
            <a:solidFill>
              <a:srgbClr val="E3E4E0"/>
            </a:solidFill>
          </p:spPr>
        </p:sp>
        <p:sp>
          <p:nvSpPr>
            <p:cNvPr id="4" name="TextBox 4"/>
            <p:cNvSpPr txBox="1"/>
            <p:nvPr/>
          </p:nvSpPr>
          <p:spPr>
            <a:xfrm>
              <a:off x="0" y="-19050"/>
              <a:ext cx="1561918" cy="3727561"/>
            </a:xfrm>
            <a:prstGeom prst="rect">
              <a:avLst/>
            </a:prstGeom>
          </p:spPr>
          <p:txBody>
            <a:bodyPr lIns="27093" tIns="27093" rIns="27093" bIns="27093" rtlCol="0" anchor="ctr"/>
            <a:lstStyle/>
            <a:p>
              <a:pPr algn="ctr">
                <a:lnSpc>
                  <a:spcPts val="1400"/>
                </a:lnSpc>
              </a:pPr>
              <a:endParaRPr dirty="0"/>
            </a:p>
          </p:txBody>
        </p:sp>
      </p:grpSp>
      <p:sp>
        <p:nvSpPr>
          <p:cNvPr id="7" name="TextBox 7"/>
          <p:cNvSpPr txBox="1"/>
          <p:nvPr/>
        </p:nvSpPr>
        <p:spPr>
          <a:xfrm>
            <a:off x="4355976" y="1772816"/>
            <a:ext cx="3775259" cy="676083"/>
          </a:xfrm>
          <a:prstGeom prst="rect">
            <a:avLst/>
          </a:prstGeom>
        </p:spPr>
        <p:txBody>
          <a:bodyPr lIns="0" tIns="0" rIns="0" bIns="0" rtlCol="0" anchor="t">
            <a:spAutoFit/>
          </a:bodyPr>
          <a:lstStyle/>
          <a:p>
            <a:pPr>
              <a:lnSpc>
                <a:spcPts val="6299"/>
              </a:lnSpc>
            </a:pPr>
            <a:r>
              <a:rPr lang="en-GB" sz="2400" b="1" dirty="0" smtClean="0">
                <a:solidFill>
                  <a:srgbClr val="000000"/>
                </a:solidFill>
                <a:latin typeface="Cinzel Decorative"/>
                <a:ea typeface="Cinzel Decorative"/>
                <a:cs typeface="Cinzel Decorative"/>
                <a:sym typeface="Cinzel Decorative"/>
              </a:rPr>
              <a:t>VUPPU REDDY KALYAN</a:t>
            </a:r>
            <a:endParaRPr lang="en-US" sz="2400" b="1" dirty="0">
              <a:solidFill>
                <a:srgbClr val="000000"/>
              </a:solidFill>
              <a:latin typeface="Cinzel Decorative"/>
              <a:ea typeface="Cinzel Decorative"/>
              <a:cs typeface="Cinzel Decorative"/>
              <a:sym typeface="Cinzel Decorative"/>
            </a:endParaRPr>
          </a:p>
        </p:txBody>
      </p:sp>
      <p:sp>
        <p:nvSpPr>
          <p:cNvPr id="8" name="TextBox 8"/>
          <p:cNvSpPr txBox="1"/>
          <p:nvPr/>
        </p:nvSpPr>
        <p:spPr>
          <a:xfrm>
            <a:off x="4427984" y="2708920"/>
            <a:ext cx="3775259" cy="1723549"/>
          </a:xfrm>
          <a:prstGeom prst="rect">
            <a:avLst/>
          </a:prstGeom>
        </p:spPr>
        <p:txBody>
          <a:bodyPr lIns="0" tIns="0" rIns="0" bIns="0" rtlCol="0" anchor="t">
            <a:spAutoFit/>
          </a:bodyPr>
          <a:lstStyle/>
          <a:p>
            <a:r>
              <a:rPr lang="en-GB" sz="1400" dirty="0" smtClean="0"/>
              <a:t>B.E Computer Science &amp; Engineering</a:t>
            </a:r>
          </a:p>
          <a:p>
            <a:r>
              <a:rPr lang="en-GB" sz="1400" dirty="0" smtClean="0"/>
              <a:t>(AI&amp;ML)</a:t>
            </a:r>
          </a:p>
          <a:p>
            <a:endParaRPr lang="en-GB" sz="1400" dirty="0" smtClean="0"/>
          </a:p>
          <a:p>
            <a:r>
              <a:rPr lang="en-GB" sz="1400" dirty="0" smtClean="0"/>
              <a:t>vuppureddykalyan@gmail.com</a:t>
            </a:r>
          </a:p>
          <a:p>
            <a:endParaRPr lang="en-GB" sz="1400" dirty="0" smtClean="0">
              <a:solidFill>
                <a:schemeClr val="accent2">
                  <a:lumMod val="20000"/>
                  <a:lumOff val="80000"/>
                </a:schemeClr>
              </a:solidFill>
            </a:endParaRPr>
          </a:p>
          <a:p>
            <a:r>
              <a:rPr lang="en-GB" sz="1400" dirty="0" smtClean="0"/>
              <a:t>https://github.com/Kalyan31104</a:t>
            </a:r>
          </a:p>
          <a:p>
            <a:endParaRPr lang="en-GB" sz="1400" dirty="0" smtClean="0"/>
          </a:p>
          <a:p>
            <a:r>
              <a:rPr lang="en-US" sz="1400" dirty="0" smtClean="0"/>
              <a:t>https://www.linkedin.com/in/vuppureddykalyan/</a:t>
            </a:r>
          </a:p>
        </p:txBody>
      </p:sp>
      <p:pic>
        <p:nvPicPr>
          <p:cNvPr id="9" name="Picture 8" descr="Blazer.jpg"/>
          <p:cNvPicPr>
            <a:picLocks noChangeAspect="1"/>
          </p:cNvPicPr>
          <p:nvPr/>
        </p:nvPicPr>
        <p:blipFill>
          <a:blip r:embed="rId2" cstate="print"/>
          <a:stretch>
            <a:fillRect/>
          </a:stretch>
        </p:blipFill>
        <p:spPr>
          <a:xfrm>
            <a:off x="755576" y="1772816"/>
            <a:ext cx="3096344" cy="269350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980728"/>
            <a:ext cx="7772400" cy="1470025"/>
          </a:xfrm>
        </p:spPr>
        <p:txBody>
          <a:bodyPr>
            <a:normAutofit fontScale="90000"/>
          </a:bodyPr>
          <a:lstStyle/>
          <a:p>
            <a:r>
              <a:rPr lang="en-US" sz="3600" b="1" dirty="0">
                <a:latin typeface="Times New Roman" pitchFamily="18" charset="0"/>
                <a:cs typeface="Times New Roman" pitchFamily="18" charset="0"/>
              </a:rPr>
              <a:t>Enterprise Retail Analytics Platform on Azure</a:t>
            </a:r>
            <a:r>
              <a:rPr lang="en-US" b="1" dirty="0"/>
              <a:t/>
            </a:r>
            <a:br>
              <a:rPr lang="en-US" b="1" dirty="0"/>
            </a:br>
            <a:endParaRPr lang="en-US" dirty="0"/>
          </a:p>
        </p:txBody>
      </p:sp>
      <p:sp>
        <p:nvSpPr>
          <p:cNvPr id="4" name="TextBox 3"/>
          <p:cNvSpPr txBox="1"/>
          <p:nvPr/>
        </p:nvSpPr>
        <p:spPr>
          <a:xfrm>
            <a:off x="5292080" y="4365104"/>
            <a:ext cx="3528392" cy="923330"/>
          </a:xfrm>
          <a:prstGeom prst="rect">
            <a:avLst/>
          </a:prstGeom>
          <a:noFill/>
        </p:spPr>
        <p:txBody>
          <a:bodyPr wrap="square" rtlCol="0">
            <a:spAutoFit/>
          </a:bodyPr>
          <a:lstStyle/>
          <a:p>
            <a:r>
              <a:rPr lang="en-GB" b="1" dirty="0" smtClean="0">
                <a:latin typeface="Times New Roman" pitchFamily="18" charset="0"/>
                <a:cs typeface="Times New Roman" pitchFamily="18" charset="0"/>
              </a:rPr>
              <a:t>Presented By</a:t>
            </a:r>
          </a:p>
          <a:p>
            <a:endParaRPr lang="en-GB" b="1" dirty="0" smtClean="0">
              <a:latin typeface="Times New Roman" pitchFamily="18" charset="0"/>
              <a:cs typeface="Times New Roman" pitchFamily="18" charset="0"/>
            </a:endParaRPr>
          </a:p>
          <a:p>
            <a:r>
              <a:rPr lang="en-GB" b="1" dirty="0" err="1" smtClean="0">
                <a:latin typeface="Times New Roman" pitchFamily="18" charset="0"/>
                <a:cs typeface="Times New Roman" pitchFamily="18" charset="0"/>
              </a:rPr>
              <a:t>Vuppu</a:t>
            </a:r>
            <a:r>
              <a:rPr lang="en-GB" b="1" dirty="0" smtClean="0">
                <a:latin typeface="Times New Roman" pitchFamily="18" charset="0"/>
                <a:cs typeface="Times New Roman" pitchFamily="18" charset="0"/>
              </a:rPr>
              <a:t> Reddy </a:t>
            </a:r>
            <a:r>
              <a:rPr lang="en-GB" b="1" dirty="0" err="1" smtClean="0">
                <a:latin typeface="Times New Roman" pitchFamily="18" charset="0"/>
                <a:cs typeface="Times New Roman" pitchFamily="18" charset="0"/>
              </a:rPr>
              <a:t>Kalyan</a:t>
            </a: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260648"/>
            <a:ext cx="7488832" cy="2585323"/>
          </a:xfrm>
          <a:prstGeom prst="rect">
            <a:avLst/>
          </a:prstGeom>
          <a:noFill/>
        </p:spPr>
        <p:txBody>
          <a:bodyPr wrap="square" rtlCol="0">
            <a:spAutoFit/>
          </a:bodyPr>
          <a:lstStyle/>
          <a:p>
            <a:r>
              <a:rPr lang="en-GB" sz="1600" b="1" dirty="0" smtClean="0">
                <a:latin typeface="Times New Roman" pitchFamily="18" charset="0"/>
                <a:cs typeface="Times New Roman" pitchFamily="18" charset="0"/>
              </a:rPr>
              <a:t>Business Scenario</a:t>
            </a:r>
          </a:p>
          <a:p>
            <a:endParaRPr lang="en-GB" sz="1600" b="1" dirty="0" smtClean="0">
              <a:latin typeface="Times New Roman" pitchFamily="18" charset="0"/>
              <a:cs typeface="Times New Roman" pitchFamily="18" charset="0"/>
            </a:endParaRPr>
          </a:p>
          <a:p>
            <a:r>
              <a:rPr lang="en-GB" sz="1400" dirty="0" smtClean="0">
                <a:latin typeface="Times New Roman" pitchFamily="18" charset="0"/>
                <a:cs typeface="Times New Roman" pitchFamily="18" charset="0"/>
              </a:rPr>
              <a:t>A retail organization receives business data from multiple independent operational systems every day. These systems generate customer information, product details, sales transactions, and exchange rates. Since the data originates from different sources and formats, it cannot be directly used for business reporting or analytics.</a:t>
            </a:r>
          </a:p>
          <a:p>
            <a:endParaRPr lang="en-GB" sz="1400" dirty="0" smtClean="0">
              <a:latin typeface="Times New Roman" pitchFamily="18" charset="0"/>
              <a:cs typeface="Times New Roman" pitchFamily="18" charset="0"/>
            </a:endParaRPr>
          </a:p>
          <a:p>
            <a:r>
              <a:rPr lang="en-GB" sz="1400" dirty="0" smtClean="0">
                <a:latin typeface="Times New Roman" pitchFamily="18" charset="0"/>
                <a:cs typeface="Times New Roman" pitchFamily="18" charset="0"/>
              </a:rPr>
              <a:t>The organization requires a centralized, scalable, and automated data platform to integrate, validate, transform, and deliver high-quality analytical data for business intelligence and decision-making. This is the core business scenario described in the project specification.</a:t>
            </a:r>
          </a:p>
          <a:p>
            <a:endParaRPr lang="en-US" dirty="0"/>
          </a:p>
        </p:txBody>
      </p:sp>
      <p:graphicFrame>
        <p:nvGraphicFramePr>
          <p:cNvPr id="3" name="Table 2"/>
          <p:cNvGraphicFramePr>
            <a:graphicFrameLocks noGrp="1"/>
          </p:cNvGraphicFramePr>
          <p:nvPr/>
        </p:nvGraphicFramePr>
        <p:xfrm>
          <a:off x="1115616" y="3068960"/>
          <a:ext cx="6096000" cy="185420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GB" dirty="0" smtClean="0"/>
                        <a:t>Datasets</a:t>
                      </a:r>
                      <a:endParaRPr lang="en-US" dirty="0"/>
                    </a:p>
                  </a:txBody>
                  <a:tcPr/>
                </a:tc>
                <a:tc>
                  <a:txBody>
                    <a:bodyPr/>
                    <a:lstStyle/>
                    <a:p>
                      <a:r>
                        <a:rPr lang="en-GB" dirty="0" smtClean="0"/>
                        <a:t>Source</a:t>
                      </a:r>
                      <a:endParaRPr lang="en-US" dirty="0"/>
                    </a:p>
                  </a:txBody>
                  <a:tcPr/>
                </a:tc>
              </a:tr>
              <a:tr h="370840">
                <a:tc>
                  <a:txBody>
                    <a:bodyPr/>
                    <a:lstStyle/>
                    <a:p>
                      <a:r>
                        <a:rPr lang="en-GB" dirty="0" smtClean="0"/>
                        <a:t>Customers</a:t>
                      </a:r>
                      <a:endParaRPr lang="en-US" dirty="0"/>
                    </a:p>
                  </a:txBody>
                  <a:tcPr/>
                </a:tc>
                <a:tc>
                  <a:txBody>
                    <a:bodyPr/>
                    <a:lstStyle/>
                    <a:p>
                      <a:r>
                        <a:rPr lang="en-GB" dirty="0" smtClean="0"/>
                        <a:t>Azure </a:t>
                      </a:r>
                      <a:r>
                        <a:rPr lang="en-GB" dirty="0" err="1" smtClean="0"/>
                        <a:t>Sql</a:t>
                      </a:r>
                      <a:r>
                        <a:rPr lang="en-GB" dirty="0" smtClean="0"/>
                        <a:t> Database</a:t>
                      </a:r>
                      <a:endParaRPr lang="en-US" dirty="0"/>
                    </a:p>
                  </a:txBody>
                  <a:tcPr/>
                </a:tc>
              </a:tr>
              <a:tr h="370840">
                <a:tc>
                  <a:txBody>
                    <a:bodyPr/>
                    <a:lstStyle/>
                    <a:p>
                      <a:r>
                        <a:rPr lang="en-GB" dirty="0" smtClean="0"/>
                        <a:t>Products</a:t>
                      </a:r>
                      <a:endParaRPr lang="en-US" dirty="0"/>
                    </a:p>
                  </a:txBody>
                  <a:tcPr/>
                </a:tc>
                <a:tc>
                  <a:txBody>
                    <a:bodyPr/>
                    <a:lstStyle/>
                    <a:p>
                      <a:r>
                        <a:rPr lang="en-GB" dirty="0" smtClean="0"/>
                        <a:t>CSV</a:t>
                      </a:r>
                      <a:endParaRPr lang="en-US" dirty="0"/>
                    </a:p>
                  </a:txBody>
                  <a:tcPr/>
                </a:tc>
              </a:tr>
              <a:tr h="370840">
                <a:tc>
                  <a:txBody>
                    <a:bodyPr/>
                    <a:lstStyle/>
                    <a:p>
                      <a:r>
                        <a:rPr lang="en-GB" dirty="0" smtClean="0"/>
                        <a:t>Orders</a:t>
                      </a:r>
                      <a:endParaRPr lang="en-US" dirty="0"/>
                    </a:p>
                  </a:txBody>
                  <a:tcPr/>
                </a:tc>
                <a:tc>
                  <a:txBody>
                    <a:bodyPr/>
                    <a:lstStyle/>
                    <a:p>
                      <a:r>
                        <a:rPr lang="en-GB" dirty="0" smtClean="0"/>
                        <a:t>CSV</a:t>
                      </a:r>
                      <a:endParaRPr lang="en-US" dirty="0"/>
                    </a:p>
                  </a:txBody>
                  <a:tcPr/>
                </a:tc>
              </a:tr>
              <a:tr h="370840">
                <a:tc>
                  <a:txBody>
                    <a:bodyPr/>
                    <a:lstStyle/>
                    <a:p>
                      <a:r>
                        <a:rPr lang="en-GB" dirty="0" smtClean="0"/>
                        <a:t>Exchange Rates</a:t>
                      </a:r>
                      <a:endParaRPr lang="en-US" dirty="0"/>
                    </a:p>
                  </a:txBody>
                  <a:tcPr/>
                </a:tc>
                <a:tc>
                  <a:txBody>
                    <a:bodyPr/>
                    <a:lstStyle/>
                    <a:p>
                      <a:r>
                        <a:rPr lang="en-GB" dirty="0" smtClean="0"/>
                        <a:t>Rest API JSON</a:t>
                      </a:r>
                      <a:endParaRPr lang="en-US" dirty="0"/>
                    </a:p>
                  </a:txBody>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404664"/>
            <a:ext cx="7560840" cy="4893647"/>
          </a:xfrm>
          <a:prstGeom prst="rect">
            <a:avLst/>
          </a:prstGeom>
          <a:noFill/>
        </p:spPr>
        <p:txBody>
          <a:bodyPr wrap="square" rtlCol="0">
            <a:spAutoFit/>
          </a:bodyPr>
          <a:lstStyle/>
          <a:p>
            <a:r>
              <a:rPr lang="en-GB" sz="1600" b="1" dirty="0" smtClean="0">
                <a:latin typeface="Times New Roman" pitchFamily="18" charset="0"/>
                <a:cs typeface="Times New Roman" pitchFamily="18" charset="0"/>
              </a:rPr>
              <a:t>Business Challenges</a:t>
            </a:r>
          </a:p>
          <a:p>
            <a:endParaRPr lang="en-GB" sz="1400" dirty="0" smtClean="0">
              <a:latin typeface="Times New Roman" pitchFamily="18" charset="0"/>
              <a:cs typeface="Times New Roman" pitchFamily="18" charset="0"/>
            </a:endParaRPr>
          </a:p>
          <a:p>
            <a:pPr>
              <a:buFont typeface="Wingdings" pitchFamily="2" charset="2"/>
              <a:buChar char="§"/>
            </a:pPr>
            <a:r>
              <a:rPr lang="en-GB" sz="1400" dirty="0" smtClean="0">
                <a:latin typeface="Times New Roman" pitchFamily="18" charset="0"/>
                <a:cs typeface="Times New Roman" pitchFamily="18" charset="0"/>
              </a:rPr>
              <a:t>  Different file formats (CSV, SQL, JSON). </a:t>
            </a:r>
          </a:p>
          <a:p>
            <a:pPr>
              <a:buFont typeface="Wingdings" pitchFamily="2" charset="2"/>
              <a:buChar char="§"/>
            </a:pPr>
            <a:r>
              <a:rPr lang="en-GB" sz="1400" dirty="0" smtClean="0">
                <a:latin typeface="Times New Roman" pitchFamily="18" charset="0"/>
                <a:cs typeface="Times New Roman" pitchFamily="18" charset="0"/>
              </a:rPr>
              <a:t>  Duplicate and inconsistent records. </a:t>
            </a:r>
          </a:p>
          <a:p>
            <a:pPr>
              <a:buFont typeface="Wingdings" pitchFamily="2" charset="2"/>
              <a:buChar char="§"/>
            </a:pPr>
            <a:r>
              <a:rPr lang="en-GB" sz="1400" dirty="0" smtClean="0">
                <a:latin typeface="Times New Roman" pitchFamily="18" charset="0"/>
                <a:cs typeface="Times New Roman" pitchFamily="18" charset="0"/>
              </a:rPr>
              <a:t>  Missing and invalid values. </a:t>
            </a:r>
          </a:p>
          <a:p>
            <a:pPr>
              <a:buFont typeface="Wingdings" pitchFamily="2" charset="2"/>
              <a:buChar char="§"/>
            </a:pPr>
            <a:r>
              <a:rPr lang="en-GB" sz="1400" dirty="0" smtClean="0">
                <a:latin typeface="Times New Roman" pitchFamily="18" charset="0"/>
                <a:cs typeface="Times New Roman" pitchFamily="18" charset="0"/>
              </a:rPr>
              <a:t>  No centralized storage. </a:t>
            </a:r>
          </a:p>
          <a:p>
            <a:pPr>
              <a:buFont typeface="Wingdings" pitchFamily="2" charset="2"/>
              <a:buChar char="§"/>
            </a:pPr>
            <a:r>
              <a:rPr lang="en-GB" sz="1400" dirty="0" smtClean="0">
                <a:latin typeface="Times New Roman" pitchFamily="18" charset="0"/>
                <a:cs typeface="Times New Roman" pitchFamily="18" charset="0"/>
              </a:rPr>
              <a:t>  No historical tracking of customer changes.</a:t>
            </a:r>
          </a:p>
          <a:p>
            <a:pPr>
              <a:buFont typeface="Wingdings" pitchFamily="2" charset="2"/>
              <a:buChar char="§"/>
            </a:pPr>
            <a:r>
              <a:rPr lang="en-GB" sz="1400" dirty="0">
                <a:latin typeface="Times New Roman" pitchFamily="18" charset="0"/>
                <a:cs typeface="Times New Roman" pitchFamily="18" charset="0"/>
              </a:rPr>
              <a:t> </a:t>
            </a:r>
            <a:r>
              <a:rPr lang="en-GB" sz="1400" dirty="0" smtClean="0">
                <a:latin typeface="Times New Roman" pitchFamily="18" charset="0"/>
                <a:cs typeface="Times New Roman" pitchFamily="18" charset="0"/>
              </a:rPr>
              <a:t> No Incremental Loading</a:t>
            </a:r>
          </a:p>
          <a:p>
            <a:pPr>
              <a:buFont typeface="Wingdings" pitchFamily="2" charset="2"/>
              <a:buChar char="§"/>
            </a:pPr>
            <a:endParaRPr lang="en-GB" sz="1400" dirty="0">
              <a:latin typeface="Times New Roman" pitchFamily="18" charset="0"/>
              <a:cs typeface="Times New Roman" pitchFamily="18" charset="0"/>
            </a:endParaRPr>
          </a:p>
          <a:p>
            <a:pPr>
              <a:buFont typeface="Wingdings" pitchFamily="2" charset="2"/>
              <a:buChar char="§"/>
            </a:pPr>
            <a:endParaRPr lang="en-GB" sz="1400" dirty="0" smtClean="0">
              <a:latin typeface="Times New Roman" pitchFamily="18" charset="0"/>
              <a:cs typeface="Times New Roman" pitchFamily="18" charset="0"/>
            </a:endParaRPr>
          </a:p>
          <a:p>
            <a:r>
              <a:rPr lang="en-GB" sz="1600" b="1" dirty="0" smtClean="0">
                <a:latin typeface="Times New Roman" pitchFamily="18" charset="0"/>
                <a:cs typeface="Times New Roman" pitchFamily="18" charset="0"/>
              </a:rPr>
              <a:t>Business Objective</a:t>
            </a:r>
          </a:p>
          <a:p>
            <a:endParaRPr lang="en-GB" sz="1400" b="1" dirty="0" smtClean="0">
              <a:latin typeface="Times New Roman" pitchFamily="18" charset="0"/>
              <a:cs typeface="Times New Roman" pitchFamily="18" charset="0"/>
            </a:endParaRPr>
          </a:p>
          <a:p>
            <a:r>
              <a:rPr lang="en-GB" sz="1400" dirty="0" smtClean="0">
                <a:latin typeface="Times New Roman" pitchFamily="18" charset="0"/>
                <a:cs typeface="Times New Roman" pitchFamily="18" charset="0"/>
              </a:rPr>
              <a:t>Develop an automated Azure Data Engineering platform that:</a:t>
            </a:r>
          </a:p>
          <a:p>
            <a:endParaRPr lang="en-GB" sz="1400" dirty="0" smtClean="0">
              <a:latin typeface="Times New Roman" pitchFamily="18" charset="0"/>
              <a:cs typeface="Times New Roman" pitchFamily="18" charset="0"/>
            </a:endParaRPr>
          </a:p>
          <a:p>
            <a:pPr>
              <a:buFont typeface="Wingdings" pitchFamily="2" charset="2"/>
              <a:buChar char="§"/>
            </a:pPr>
            <a:r>
              <a:rPr lang="en-GB" sz="1400" dirty="0" smtClean="0">
                <a:latin typeface="Times New Roman" pitchFamily="18" charset="0"/>
                <a:cs typeface="Times New Roman" pitchFamily="18" charset="0"/>
              </a:rPr>
              <a:t>  Collects data from multiple sources. </a:t>
            </a:r>
          </a:p>
          <a:p>
            <a:pPr>
              <a:buFont typeface="Wingdings" pitchFamily="2" charset="2"/>
              <a:buChar char="§"/>
            </a:pPr>
            <a:r>
              <a:rPr lang="en-GB" sz="1400" dirty="0" smtClean="0">
                <a:latin typeface="Times New Roman" pitchFamily="18" charset="0"/>
                <a:cs typeface="Times New Roman" pitchFamily="18" charset="0"/>
              </a:rPr>
              <a:t>  Stores raw data in a centralized Data Lake. </a:t>
            </a:r>
          </a:p>
          <a:p>
            <a:pPr>
              <a:buFont typeface="Wingdings" pitchFamily="2" charset="2"/>
              <a:buChar char="§"/>
            </a:pPr>
            <a:r>
              <a:rPr lang="en-GB" sz="1400" dirty="0" smtClean="0">
                <a:latin typeface="Times New Roman" pitchFamily="18" charset="0"/>
                <a:cs typeface="Times New Roman" pitchFamily="18" charset="0"/>
              </a:rPr>
              <a:t>  Cleanses and validates incoming data. </a:t>
            </a:r>
          </a:p>
          <a:p>
            <a:pPr>
              <a:buFont typeface="Wingdings" pitchFamily="2" charset="2"/>
              <a:buChar char="§"/>
            </a:pPr>
            <a:r>
              <a:rPr lang="en-GB" sz="1400" dirty="0" smtClean="0">
                <a:latin typeface="Times New Roman" pitchFamily="18" charset="0"/>
                <a:cs typeface="Times New Roman" pitchFamily="18" charset="0"/>
              </a:rPr>
              <a:t>  Maintains historical customer information. </a:t>
            </a:r>
          </a:p>
          <a:p>
            <a:pPr>
              <a:buFont typeface="Wingdings" pitchFamily="2" charset="2"/>
              <a:buChar char="§"/>
            </a:pPr>
            <a:r>
              <a:rPr lang="en-GB" sz="1400" dirty="0" smtClean="0">
                <a:latin typeface="Times New Roman" pitchFamily="18" charset="0"/>
                <a:cs typeface="Times New Roman" pitchFamily="18" charset="0"/>
              </a:rPr>
              <a:t>  Supports incremental data loading. </a:t>
            </a:r>
          </a:p>
          <a:p>
            <a:pPr>
              <a:buFont typeface="Wingdings" pitchFamily="2" charset="2"/>
              <a:buChar char="§"/>
            </a:pPr>
            <a:r>
              <a:rPr lang="en-GB" sz="1400" dirty="0" smtClean="0">
                <a:latin typeface="Times New Roman" pitchFamily="18" charset="0"/>
                <a:cs typeface="Times New Roman" pitchFamily="18" charset="0"/>
              </a:rPr>
              <a:t>  Delivers business-ready data for reporting through Power BI.</a:t>
            </a:r>
          </a:p>
          <a:p>
            <a:r>
              <a:rPr lang="en-GB" sz="1400" dirty="0" smtClean="0">
                <a:latin typeface="Times New Roman" pitchFamily="18" charset="0"/>
                <a:cs typeface="Times New Roman" pitchFamily="18" charset="0"/>
              </a:rPr>
              <a:t> </a:t>
            </a:r>
          </a:p>
          <a:p>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332656"/>
            <a:ext cx="5688632" cy="369332"/>
          </a:xfrm>
          <a:prstGeom prst="rect">
            <a:avLst/>
          </a:prstGeom>
          <a:noFill/>
        </p:spPr>
        <p:txBody>
          <a:bodyPr wrap="square" rtlCol="0">
            <a:spAutoFit/>
          </a:bodyPr>
          <a:lstStyle/>
          <a:p>
            <a:r>
              <a:rPr lang="en-GB" dirty="0" smtClean="0"/>
              <a:t>Sources</a:t>
            </a:r>
            <a:endParaRPr lang="en-US" dirty="0"/>
          </a:p>
        </p:txBody>
      </p:sp>
      <p:sp>
        <p:nvSpPr>
          <p:cNvPr id="3" name="TextBox 2"/>
          <p:cNvSpPr txBox="1"/>
          <p:nvPr/>
        </p:nvSpPr>
        <p:spPr>
          <a:xfrm>
            <a:off x="539552" y="836712"/>
            <a:ext cx="7848872" cy="307777"/>
          </a:xfrm>
          <a:prstGeom prst="rect">
            <a:avLst/>
          </a:prstGeom>
          <a:noFill/>
        </p:spPr>
        <p:txBody>
          <a:bodyPr wrap="square" rtlCol="0">
            <a:spAutoFit/>
          </a:bodyPr>
          <a:lstStyle/>
          <a:p>
            <a:r>
              <a:rPr lang="en-US" sz="1400" dirty="0" smtClean="0"/>
              <a:t>Customers Data</a:t>
            </a:r>
            <a:endParaRPr lang="en-US" sz="1400" dirty="0"/>
          </a:p>
        </p:txBody>
      </p:sp>
      <p:pic>
        <p:nvPicPr>
          <p:cNvPr id="4" name="Picture 3" descr="icons8-database-50.png">
            <a:hlinkClick r:id="rId2"/>
          </p:cNvPr>
          <p:cNvPicPr/>
          <p:nvPr/>
        </p:nvPicPr>
        <p:blipFill>
          <a:blip r:embed="rId3" cstate="print"/>
          <a:stretch>
            <a:fillRect/>
          </a:stretch>
        </p:blipFill>
        <p:spPr>
          <a:xfrm>
            <a:off x="755576" y="1268760"/>
            <a:ext cx="634365" cy="634365"/>
          </a:xfrm>
          <a:prstGeom prst="rect">
            <a:avLst/>
          </a:prstGeom>
        </p:spPr>
      </p:pic>
      <p:sp>
        <p:nvSpPr>
          <p:cNvPr id="5" name="TextBox 4"/>
          <p:cNvSpPr txBox="1"/>
          <p:nvPr/>
        </p:nvSpPr>
        <p:spPr>
          <a:xfrm>
            <a:off x="2987824" y="836712"/>
            <a:ext cx="4968552" cy="2246769"/>
          </a:xfrm>
          <a:prstGeom prst="rect">
            <a:avLst/>
          </a:prstGeom>
          <a:noFill/>
        </p:spPr>
        <p:txBody>
          <a:bodyPr wrap="square" rtlCol="0">
            <a:spAutoFit/>
          </a:bodyPr>
          <a:lstStyle/>
          <a:p>
            <a:r>
              <a:rPr lang="en-US" sz="1400" b="1" dirty="0" smtClean="0"/>
              <a:t>Key Attributes</a:t>
            </a:r>
            <a:endParaRPr lang="en-US" sz="1400" dirty="0" smtClean="0"/>
          </a:p>
          <a:p>
            <a:pPr lvl="0"/>
            <a:r>
              <a:rPr lang="en-US" sz="1400" dirty="0" err="1" smtClean="0"/>
              <a:t>CustomerID</a:t>
            </a:r>
            <a:endParaRPr lang="en-US" sz="1400" dirty="0" smtClean="0"/>
          </a:p>
          <a:p>
            <a:pPr lvl="0"/>
            <a:r>
              <a:rPr lang="en-US" sz="1400" dirty="0" err="1" smtClean="0"/>
              <a:t>FirstName</a:t>
            </a:r>
            <a:endParaRPr lang="en-US" sz="1400" dirty="0" smtClean="0"/>
          </a:p>
          <a:p>
            <a:pPr lvl="0"/>
            <a:r>
              <a:rPr lang="en-US" sz="1400" dirty="0" err="1" smtClean="0"/>
              <a:t>LastName</a:t>
            </a:r>
            <a:endParaRPr lang="en-US" sz="1400" dirty="0" smtClean="0"/>
          </a:p>
          <a:p>
            <a:pPr lvl="0"/>
            <a:r>
              <a:rPr lang="en-US" sz="1400" dirty="0" smtClean="0"/>
              <a:t>Email</a:t>
            </a:r>
          </a:p>
          <a:p>
            <a:pPr lvl="0"/>
            <a:r>
              <a:rPr lang="en-US" sz="1400" dirty="0" smtClean="0"/>
              <a:t>Phone</a:t>
            </a:r>
          </a:p>
          <a:p>
            <a:pPr lvl="0"/>
            <a:r>
              <a:rPr lang="en-US" sz="1400" dirty="0" smtClean="0"/>
              <a:t>City</a:t>
            </a:r>
          </a:p>
          <a:p>
            <a:pPr lvl="0"/>
            <a:r>
              <a:rPr lang="en-US" sz="1400" dirty="0" smtClean="0"/>
              <a:t>State</a:t>
            </a:r>
          </a:p>
          <a:p>
            <a:pPr lvl="0"/>
            <a:r>
              <a:rPr lang="en-US" sz="1400" dirty="0" err="1" smtClean="0"/>
              <a:t>LastUpdated</a:t>
            </a:r>
            <a:endParaRPr lang="en-US" sz="1400" dirty="0" smtClean="0"/>
          </a:p>
          <a:p>
            <a:endParaRPr lang="en-US" sz="1400" dirty="0"/>
          </a:p>
        </p:txBody>
      </p:sp>
      <p:sp>
        <p:nvSpPr>
          <p:cNvPr id="6" name="TextBox 5"/>
          <p:cNvSpPr txBox="1"/>
          <p:nvPr/>
        </p:nvSpPr>
        <p:spPr>
          <a:xfrm>
            <a:off x="611560" y="2996952"/>
            <a:ext cx="7704856" cy="523220"/>
          </a:xfrm>
          <a:prstGeom prst="rect">
            <a:avLst/>
          </a:prstGeom>
          <a:noFill/>
        </p:spPr>
        <p:txBody>
          <a:bodyPr wrap="square" rtlCol="0">
            <a:spAutoFit/>
          </a:bodyPr>
          <a:lstStyle/>
          <a:p>
            <a:r>
              <a:rPr lang="en-US" sz="1400" dirty="0" smtClean="0"/>
              <a:t>Orders Data</a:t>
            </a:r>
          </a:p>
          <a:p>
            <a:endParaRPr lang="en-US" sz="1400" dirty="0"/>
          </a:p>
        </p:txBody>
      </p:sp>
      <p:pic>
        <p:nvPicPr>
          <p:cNvPr id="7" name="Picture 6" descr="icons8-csv-48.png">
            <a:hlinkClick r:id="rId4"/>
          </p:cNvPr>
          <p:cNvPicPr/>
          <p:nvPr/>
        </p:nvPicPr>
        <p:blipFill>
          <a:blip r:embed="rId5" cstate="print"/>
          <a:stretch>
            <a:fillRect/>
          </a:stretch>
        </p:blipFill>
        <p:spPr>
          <a:xfrm>
            <a:off x="827584" y="3501008"/>
            <a:ext cx="612140" cy="612140"/>
          </a:xfrm>
          <a:prstGeom prst="rect">
            <a:avLst/>
          </a:prstGeom>
        </p:spPr>
      </p:pic>
      <p:sp>
        <p:nvSpPr>
          <p:cNvPr id="8" name="Rectangle 7"/>
          <p:cNvSpPr/>
          <p:nvPr/>
        </p:nvSpPr>
        <p:spPr>
          <a:xfrm>
            <a:off x="3059832" y="3356992"/>
            <a:ext cx="4572000" cy="1600438"/>
          </a:xfrm>
          <a:prstGeom prst="rect">
            <a:avLst/>
          </a:prstGeom>
        </p:spPr>
        <p:txBody>
          <a:bodyPr>
            <a:spAutoFit/>
          </a:bodyPr>
          <a:lstStyle/>
          <a:p>
            <a:pPr lvl="0"/>
            <a:r>
              <a:rPr lang="en-US" sz="1400" dirty="0" err="1" smtClean="0"/>
              <a:t>OrderID</a:t>
            </a:r>
            <a:endParaRPr lang="en-US" sz="1400" dirty="0" smtClean="0"/>
          </a:p>
          <a:p>
            <a:pPr lvl="0"/>
            <a:r>
              <a:rPr lang="en-US" sz="1400" dirty="0" err="1" smtClean="0"/>
              <a:t>CustomerID</a:t>
            </a:r>
            <a:endParaRPr lang="en-US" sz="1400" dirty="0" smtClean="0"/>
          </a:p>
          <a:p>
            <a:pPr lvl="0"/>
            <a:r>
              <a:rPr lang="en-US" sz="1400" dirty="0" err="1" smtClean="0"/>
              <a:t>ProductID</a:t>
            </a:r>
            <a:endParaRPr lang="en-US" sz="1400" dirty="0" smtClean="0"/>
          </a:p>
          <a:p>
            <a:pPr lvl="0"/>
            <a:r>
              <a:rPr lang="en-US" sz="1400" dirty="0" err="1" smtClean="0"/>
              <a:t>OrderDate</a:t>
            </a:r>
            <a:endParaRPr lang="en-US" sz="1400" dirty="0" smtClean="0"/>
          </a:p>
          <a:p>
            <a:pPr lvl="0"/>
            <a:r>
              <a:rPr lang="en-US" sz="1400" dirty="0" smtClean="0"/>
              <a:t>Quantity</a:t>
            </a:r>
          </a:p>
          <a:p>
            <a:pPr lvl="0"/>
            <a:r>
              <a:rPr lang="en-US" sz="1400" dirty="0" err="1" smtClean="0"/>
              <a:t>UnitPrice</a:t>
            </a:r>
            <a:endParaRPr lang="en-US" sz="1400" dirty="0" smtClean="0"/>
          </a:p>
          <a:p>
            <a:pPr lvl="0"/>
            <a:r>
              <a:rPr lang="en-US" sz="1400" dirty="0" err="1" smtClean="0"/>
              <a:t>StoreCode</a:t>
            </a:r>
            <a:endParaRPr lang="en-US" sz="1400" dirty="0"/>
          </a:p>
        </p:txBody>
      </p:sp>
      <p:sp>
        <p:nvSpPr>
          <p:cNvPr id="9" name="TextBox 8"/>
          <p:cNvSpPr txBox="1"/>
          <p:nvPr/>
        </p:nvSpPr>
        <p:spPr>
          <a:xfrm>
            <a:off x="3059832" y="5085184"/>
            <a:ext cx="4104456" cy="1600438"/>
          </a:xfrm>
          <a:prstGeom prst="rect">
            <a:avLst/>
          </a:prstGeom>
          <a:noFill/>
        </p:spPr>
        <p:txBody>
          <a:bodyPr wrap="square" rtlCol="0">
            <a:spAutoFit/>
          </a:bodyPr>
          <a:lstStyle/>
          <a:p>
            <a:pPr lvl="0"/>
            <a:r>
              <a:rPr lang="en-US" sz="1400" dirty="0" err="1" smtClean="0"/>
              <a:t>ProductID</a:t>
            </a:r>
            <a:endParaRPr lang="en-US" sz="1400" dirty="0" smtClean="0"/>
          </a:p>
          <a:p>
            <a:pPr lvl="0"/>
            <a:r>
              <a:rPr lang="en-US" sz="1400" dirty="0" err="1" smtClean="0"/>
              <a:t>ProductName</a:t>
            </a:r>
            <a:endParaRPr lang="en-US" sz="1400" dirty="0" smtClean="0"/>
          </a:p>
          <a:p>
            <a:pPr lvl="0"/>
            <a:r>
              <a:rPr lang="en-US" sz="1400" dirty="0" smtClean="0"/>
              <a:t>Category</a:t>
            </a:r>
          </a:p>
          <a:p>
            <a:pPr lvl="0"/>
            <a:r>
              <a:rPr lang="en-US" sz="1400" dirty="0" err="1" smtClean="0"/>
              <a:t>SubCategory</a:t>
            </a:r>
            <a:endParaRPr lang="en-US" sz="1400" dirty="0" smtClean="0"/>
          </a:p>
          <a:p>
            <a:pPr lvl="0"/>
            <a:r>
              <a:rPr lang="en-US" sz="1400" dirty="0" smtClean="0"/>
              <a:t>Brand</a:t>
            </a:r>
          </a:p>
          <a:p>
            <a:pPr lvl="0"/>
            <a:r>
              <a:rPr lang="en-US" sz="1400" dirty="0" err="1" smtClean="0"/>
              <a:t>CostPrice</a:t>
            </a:r>
            <a:endParaRPr lang="en-US" sz="1400" dirty="0" smtClean="0"/>
          </a:p>
          <a:p>
            <a:endParaRPr lang="en-US" sz="1400" dirty="0"/>
          </a:p>
        </p:txBody>
      </p:sp>
      <p:sp>
        <p:nvSpPr>
          <p:cNvPr id="10" name="TextBox 9"/>
          <p:cNvSpPr txBox="1"/>
          <p:nvPr/>
        </p:nvSpPr>
        <p:spPr>
          <a:xfrm>
            <a:off x="683568" y="5085184"/>
            <a:ext cx="1800200" cy="307777"/>
          </a:xfrm>
          <a:prstGeom prst="rect">
            <a:avLst/>
          </a:prstGeom>
          <a:noFill/>
        </p:spPr>
        <p:txBody>
          <a:bodyPr wrap="square" rtlCol="0">
            <a:spAutoFit/>
          </a:bodyPr>
          <a:lstStyle/>
          <a:p>
            <a:r>
              <a:rPr lang="en-GB" sz="1400" dirty="0" smtClean="0"/>
              <a:t>Products</a:t>
            </a:r>
            <a:endParaRPr lang="en-US" sz="1400" dirty="0"/>
          </a:p>
        </p:txBody>
      </p:sp>
      <p:pic>
        <p:nvPicPr>
          <p:cNvPr id="11" name="Picture 10" descr="icons8-csv-48.png">
            <a:hlinkClick r:id="rId4"/>
          </p:cNvPr>
          <p:cNvPicPr/>
          <p:nvPr/>
        </p:nvPicPr>
        <p:blipFill>
          <a:blip r:embed="rId5" cstate="print"/>
          <a:stretch>
            <a:fillRect/>
          </a:stretch>
        </p:blipFill>
        <p:spPr>
          <a:xfrm>
            <a:off x="827584" y="5589240"/>
            <a:ext cx="612140" cy="61214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9552" y="332656"/>
            <a:ext cx="1694566" cy="307777"/>
          </a:xfrm>
          <a:prstGeom prst="rect">
            <a:avLst/>
          </a:prstGeom>
        </p:spPr>
        <p:txBody>
          <a:bodyPr wrap="none">
            <a:spAutoFit/>
          </a:bodyPr>
          <a:lstStyle/>
          <a:p>
            <a:r>
              <a:rPr lang="en-US" sz="1400" dirty="0" smtClean="0"/>
              <a:t>Exchange Rates Data</a:t>
            </a:r>
            <a:endParaRPr lang="en-US" sz="1400" dirty="0"/>
          </a:p>
        </p:txBody>
      </p:sp>
      <p:pic>
        <p:nvPicPr>
          <p:cNvPr id="4" name="Picture 3" descr="icons8-json-50.png">
            <a:hlinkClick r:id="rId2"/>
          </p:cNvPr>
          <p:cNvPicPr/>
          <p:nvPr/>
        </p:nvPicPr>
        <p:blipFill>
          <a:blip r:embed="rId3" cstate="print"/>
          <a:stretch>
            <a:fillRect/>
          </a:stretch>
        </p:blipFill>
        <p:spPr>
          <a:xfrm>
            <a:off x="683568" y="980728"/>
            <a:ext cx="634365" cy="634365"/>
          </a:xfrm>
          <a:prstGeom prst="rect">
            <a:avLst/>
          </a:prstGeom>
        </p:spPr>
      </p:pic>
      <p:sp>
        <p:nvSpPr>
          <p:cNvPr id="5" name="Rectangle 4"/>
          <p:cNvSpPr/>
          <p:nvPr/>
        </p:nvSpPr>
        <p:spPr>
          <a:xfrm>
            <a:off x="2915816" y="620688"/>
            <a:ext cx="4572000" cy="1384995"/>
          </a:xfrm>
          <a:prstGeom prst="rect">
            <a:avLst/>
          </a:prstGeom>
        </p:spPr>
        <p:txBody>
          <a:bodyPr>
            <a:spAutoFit/>
          </a:bodyPr>
          <a:lstStyle/>
          <a:p>
            <a:pPr lvl="0"/>
            <a:r>
              <a:rPr lang="en-US" sz="1400" dirty="0" err="1" smtClean="0">
                <a:latin typeface="Times New Roman" pitchFamily="18" charset="0"/>
                <a:cs typeface="Times New Roman" pitchFamily="18" charset="0"/>
              </a:rPr>
              <a:t>exchange_info</a:t>
            </a:r>
            <a:endParaRPr lang="en-US" sz="1400" dirty="0" smtClean="0">
              <a:latin typeface="Times New Roman" pitchFamily="18" charset="0"/>
              <a:cs typeface="Times New Roman" pitchFamily="18" charset="0"/>
            </a:endParaRPr>
          </a:p>
          <a:p>
            <a:pPr lvl="0"/>
            <a:r>
              <a:rPr lang="en-US" sz="1400" dirty="0" err="1" smtClean="0">
                <a:cs typeface="Times New Roman" pitchFamily="18" charset="0"/>
              </a:rPr>
              <a:t>rate_details</a:t>
            </a:r>
            <a:endParaRPr lang="en-US" sz="1400" dirty="0" smtClean="0">
              <a:cs typeface="Times New Roman" pitchFamily="18" charset="0"/>
            </a:endParaRPr>
          </a:p>
          <a:p>
            <a:pPr lvl="0"/>
            <a:r>
              <a:rPr lang="en-US" sz="1400" dirty="0" smtClean="0">
                <a:latin typeface="Times New Roman" pitchFamily="18" charset="0"/>
                <a:cs typeface="Times New Roman" pitchFamily="18" charset="0"/>
              </a:rPr>
              <a:t>metadata</a:t>
            </a:r>
          </a:p>
          <a:p>
            <a:pPr lvl="0"/>
            <a:r>
              <a:rPr lang="en-US" sz="1400" dirty="0" smtClean="0">
                <a:latin typeface="Times New Roman" pitchFamily="18" charset="0"/>
                <a:cs typeface="Times New Roman" pitchFamily="18" charset="0"/>
              </a:rPr>
              <a:t>regions</a:t>
            </a:r>
          </a:p>
          <a:p>
            <a:pPr lvl="0"/>
            <a:r>
              <a:rPr lang="en-US" sz="1400" dirty="0" err="1" smtClean="0">
                <a:latin typeface="Times New Roman" pitchFamily="18" charset="0"/>
                <a:cs typeface="Times New Roman" pitchFamily="18" charset="0"/>
              </a:rPr>
              <a:t>quality_checks</a:t>
            </a:r>
            <a:endParaRPr lang="en-US" sz="1400" dirty="0" smtClean="0">
              <a:latin typeface="Times New Roman" pitchFamily="18" charset="0"/>
              <a:cs typeface="Times New Roman" pitchFamily="18" charset="0"/>
            </a:endParaRPr>
          </a:p>
          <a:p>
            <a:pPr lvl="0"/>
            <a:r>
              <a:rPr lang="en-US" sz="1400" dirty="0" err="1" smtClean="0">
                <a:latin typeface="Times New Roman" pitchFamily="18" charset="0"/>
                <a:cs typeface="Times New Roman" pitchFamily="18" charset="0"/>
              </a:rPr>
              <a:t>audit_trail</a:t>
            </a:r>
            <a:endParaRPr lang="en-US" sz="1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4" cstate="print"/>
          <a:srcRect/>
          <a:stretch>
            <a:fillRect/>
          </a:stretch>
        </p:blipFill>
        <p:spPr bwMode="auto">
          <a:xfrm>
            <a:off x="971600" y="2996952"/>
            <a:ext cx="6112049" cy="22573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404664"/>
            <a:ext cx="6624736" cy="369332"/>
          </a:xfrm>
          <a:prstGeom prst="rect">
            <a:avLst/>
          </a:prstGeom>
          <a:noFill/>
        </p:spPr>
        <p:txBody>
          <a:bodyPr wrap="square" rtlCol="0">
            <a:spAutoFit/>
          </a:bodyPr>
          <a:lstStyle/>
          <a:p>
            <a:r>
              <a:rPr lang="en-GB" b="1" dirty="0" smtClean="0"/>
              <a:t>Solution: Metadata driven Framework</a:t>
            </a:r>
            <a:endParaRPr lang="en-US" b="1" dirty="0"/>
          </a:p>
        </p:txBody>
      </p:sp>
      <p:sp>
        <p:nvSpPr>
          <p:cNvPr id="3" name="TextBox 2"/>
          <p:cNvSpPr txBox="1"/>
          <p:nvPr/>
        </p:nvSpPr>
        <p:spPr>
          <a:xfrm>
            <a:off x="683568" y="1124744"/>
            <a:ext cx="7560840" cy="4493538"/>
          </a:xfrm>
          <a:prstGeom prst="rect">
            <a:avLst/>
          </a:prstGeom>
          <a:noFill/>
        </p:spPr>
        <p:txBody>
          <a:bodyPr wrap="square" rtlCol="0">
            <a:spAutoFit/>
          </a:bodyPr>
          <a:lstStyle/>
          <a:p>
            <a:r>
              <a:rPr lang="en-US" sz="1600" b="1" dirty="0" smtClean="0"/>
              <a:t>Problem with Traditional Approach</a:t>
            </a:r>
          </a:p>
          <a:p>
            <a:endParaRPr lang="en-US" sz="1600" b="1" dirty="0" smtClean="0"/>
          </a:p>
          <a:p>
            <a:r>
              <a:rPr lang="en-US" sz="1400" dirty="0" smtClean="0"/>
              <a:t>❌ Hardcoded dataset paths</a:t>
            </a:r>
          </a:p>
          <a:p>
            <a:endParaRPr lang="en-US" sz="1400" dirty="0" smtClean="0"/>
          </a:p>
          <a:p>
            <a:r>
              <a:rPr lang="en-US" sz="1400" dirty="0" smtClean="0"/>
              <a:t>❌ Separate pipeline for each dataset</a:t>
            </a:r>
          </a:p>
          <a:p>
            <a:endParaRPr lang="en-US" sz="1400" dirty="0" smtClean="0"/>
          </a:p>
          <a:p>
            <a:r>
              <a:rPr lang="en-US" sz="1400" dirty="0" smtClean="0"/>
              <a:t>❌ High maintenance effort</a:t>
            </a:r>
          </a:p>
          <a:p>
            <a:endParaRPr lang="en-US" sz="1400" dirty="0" smtClean="0"/>
          </a:p>
          <a:p>
            <a:r>
              <a:rPr lang="en-US" sz="1400" dirty="0" smtClean="0"/>
              <a:t>❌ Code changes required for new datasets</a:t>
            </a:r>
          </a:p>
          <a:p>
            <a:endParaRPr lang="en-US" sz="1400" dirty="0" smtClean="0"/>
          </a:p>
          <a:p>
            <a:r>
              <a:rPr lang="en-US" sz="1600" b="1" dirty="0" smtClean="0"/>
              <a:t>Our Solution</a:t>
            </a:r>
          </a:p>
          <a:p>
            <a:endParaRPr lang="en-US" sz="1400" b="1" dirty="0" smtClean="0"/>
          </a:p>
          <a:p>
            <a:r>
              <a:rPr lang="en-US" sz="1400" dirty="0" smtClean="0"/>
              <a:t>✅ Centralized Metadata Configuration</a:t>
            </a:r>
          </a:p>
          <a:p>
            <a:endParaRPr lang="en-US" sz="1400" dirty="0" smtClean="0"/>
          </a:p>
          <a:p>
            <a:r>
              <a:rPr lang="en-US" sz="1400" dirty="0" smtClean="0"/>
              <a:t>✅ Dynamic Pipeline Execution</a:t>
            </a:r>
          </a:p>
          <a:p>
            <a:endParaRPr lang="en-US" sz="1400" dirty="0" smtClean="0"/>
          </a:p>
          <a:p>
            <a:r>
              <a:rPr lang="en-US" sz="1400" dirty="0" smtClean="0"/>
              <a:t>✅ Reusable Notebooks</a:t>
            </a:r>
          </a:p>
          <a:p>
            <a:endParaRPr lang="en-US" sz="1400" dirty="0" smtClean="0"/>
          </a:p>
          <a:p>
            <a:r>
              <a:rPr lang="en-US" sz="1400" dirty="0" smtClean="0"/>
              <a:t>✅ Easy Dataset </a:t>
            </a:r>
            <a:r>
              <a:rPr lang="en-US" sz="1400" dirty="0" err="1" smtClean="0"/>
              <a:t>Onboarding</a:t>
            </a:r>
            <a:endParaRPr lang="en-US" sz="1400" dirty="0" smtClean="0"/>
          </a:p>
          <a:p>
            <a:endParaRPr lang="en-US" sz="1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411760" y="1052736"/>
            <a:ext cx="3741787" cy="4023182"/>
          </a:xfrm>
          <a:prstGeom prst="rect">
            <a:avLst/>
          </a:prstGeom>
          <a:noFill/>
          <a:ln w="9525">
            <a:noFill/>
            <a:miter lim="800000"/>
            <a:headEnd/>
            <a:tailEnd/>
          </a:ln>
          <a:effectLst/>
        </p:spPr>
      </p:pic>
      <p:sp>
        <p:nvSpPr>
          <p:cNvPr id="4" name="TextBox 3"/>
          <p:cNvSpPr txBox="1"/>
          <p:nvPr/>
        </p:nvSpPr>
        <p:spPr>
          <a:xfrm>
            <a:off x="755576" y="260648"/>
            <a:ext cx="3672408" cy="369332"/>
          </a:xfrm>
          <a:prstGeom prst="rect">
            <a:avLst/>
          </a:prstGeom>
          <a:noFill/>
        </p:spPr>
        <p:txBody>
          <a:bodyPr wrap="square" rtlCol="0">
            <a:spAutoFit/>
          </a:bodyPr>
          <a:lstStyle/>
          <a:p>
            <a:r>
              <a:rPr lang="en-GB" dirty="0" err="1" smtClean="0"/>
              <a:t>Metadata_Config_Retail.json</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5536" y="116632"/>
            <a:ext cx="4032448" cy="5693866"/>
          </a:xfrm>
          <a:prstGeom prst="rect">
            <a:avLst/>
          </a:prstGeom>
          <a:noFill/>
        </p:spPr>
        <p:txBody>
          <a:bodyPr wrap="square" rtlCol="0">
            <a:spAutoFit/>
          </a:bodyPr>
          <a:lstStyle/>
          <a:p>
            <a:r>
              <a:rPr lang="en-US" b="1" dirty="0" smtClean="0"/>
              <a:t>Metadata Contains</a:t>
            </a:r>
          </a:p>
          <a:p>
            <a:endParaRPr lang="en-US" b="1" dirty="0" smtClean="0"/>
          </a:p>
          <a:p>
            <a:r>
              <a:rPr lang="en-US" sz="1600" b="1" dirty="0" smtClean="0"/>
              <a:t>📂    Project Configuration</a:t>
            </a:r>
          </a:p>
          <a:p>
            <a:pPr>
              <a:buFont typeface="Arial"/>
              <a:buChar char="•"/>
            </a:pPr>
            <a:r>
              <a:rPr lang="en-US" sz="1400" dirty="0" smtClean="0"/>
              <a:t>  Project Name </a:t>
            </a:r>
          </a:p>
          <a:p>
            <a:pPr>
              <a:buFont typeface="Arial"/>
              <a:buChar char="•"/>
            </a:pPr>
            <a:r>
              <a:rPr lang="en-US" sz="1400" dirty="0" smtClean="0"/>
              <a:t>  Storage Account </a:t>
            </a:r>
          </a:p>
          <a:p>
            <a:pPr>
              <a:buFont typeface="Arial"/>
              <a:buChar char="•"/>
            </a:pPr>
            <a:r>
              <a:rPr lang="en-US" sz="1400" dirty="0" smtClean="0"/>
              <a:t>  Container Name </a:t>
            </a:r>
          </a:p>
          <a:p>
            <a:endParaRPr lang="en-US" sz="1400" dirty="0" smtClean="0"/>
          </a:p>
          <a:p>
            <a:r>
              <a:rPr lang="en-US" sz="1400" b="1" dirty="0" smtClean="0"/>
              <a:t>⚙ Framework Configuration</a:t>
            </a:r>
          </a:p>
          <a:p>
            <a:r>
              <a:rPr lang="en-US" sz="1400" b="1" dirty="0" smtClean="0"/>
              <a:t>Storage Paths</a:t>
            </a:r>
          </a:p>
          <a:p>
            <a:pPr>
              <a:buFont typeface="Arial"/>
              <a:buChar char="•"/>
            </a:pPr>
            <a:r>
              <a:rPr lang="en-US" sz="1400" dirty="0" smtClean="0"/>
              <a:t>  Bronze Path </a:t>
            </a:r>
          </a:p>
          <a:p>
            <a:pPr>
              <a:buFont typeface="Arial"/>
              <a:buChar char="•"/>
            </a:pPr>
            <a:r>
              <a:rPr lang="en-US" sz="1400" dirty="0" smtClean="0"/>
              <a:t>  Silver Path </a:t>
            </a:r>
          </a:p>
          <a:p>
            <a:pPr>
              <a:buFont typeface="Arial"/>
              <a:buChar char="•"/>
            </a:pPr>
            <a:r>
              <a:rPr lang="en-US" sz="1400" dirty="0" smtClean="0"/>
              <a:t>  Gold Path </a:t>
            </a:r>
          </a:p>
          <a:p>
            <a:pPr>
              <a:buFont typeface="Arial"/>
              <a:buChar char="•"/>
            </a:pPr>
            <a:r>
              <a:rPr lang="en-US" sz="1400" dirty="0" smtClean="0"/>
              <a:t>  Audit Path </a:t>
            </a:r>
          </a:p>
          <a:p>
            <a:endParaRPr lang="en-US" sz="1400" dirty="0" smtClean="0"/>
          </a:p>
          <a:p>
            <a:r>
              <a:rPr lang="en-US" sz="1400" b="1" dirty="0" smtClean="0"/>
              <a:t>Audit Configuration</a:t>
            </a:r>
          </a:p>
          <a:p>
            <a:pPr>
              <a:buFont typeface="Arial"/>
              <a:buChar char="•"/>
            </a:pPr>
            <a:r>
              <a:rPr lang="en-US" sz="1400" dirty="0" smtClean="0"/>
              <a:t>  Audit Log Path </a:t>
            </a:r>
          </a:p>
          <a:p>
            <a:pPr>
              <a:buFont typeface="Arial"/>
              <a:buChar char="•"/>
            </a:pPr>
            <a:r>
              <a:rPr lang="en-US" sz="1400" dirty="0" smtClean="0"/>
              <a:t>  Rejected Records Path </a:t>
            </a:r>
          </a:p>
          <a:p>
            <a:endParaRPr lang="en-US" sz="1400" dirty="0" smtClean="0"/>
          </a:p>
          <a:p>
            <a:r>
              <a:rPr lang="en-US" sz="1400" b="1" dirty="0" smtClean="0"/>
              <a:t>Audit Columns</a:t>
            </a:r>
          </a:p>
          <a:p>
            <a:pPr>
              <a:buFont typeface="Arial"/>
              <a:buChar char="•"/>
            </a:pPr>
            <a:r>
              <a:rPr lang="en-US" sz="1400" dirty="0" smtClean="0"/>
              <a:t>  Pipeline Run ID </a:t>
            </a:r>
          </a:p>
          <a:p>
            <a:pPr>
              <a:buFont typeface="Arial"/>
              <a:buChar char="•"/>
            </a:pPr>
            <a:r>
              <a:rPr lang="en-US" sz="1400" dirty="0" smtClean="0"/>
              <a:t>  Ingestion Timestamp </a:t>
            </a:r>
          </a:p>
          <a:p>
            <a:pPr>
              <a:buFont typeface="Arial"/>
              <a:buChar char="•"/>
            </a:pPr>
            <a:r>
              <a:rPr lang="en-US" sz="1400" dirty="0" smtClean="0"/>
              <a:t>  Processed Timestamp </a:t>
            </a:r>
          </a:p>
          <a:p>
            <a:pPr>
              <a:buFont typeface="Arial"/>
              <a:buChar char="•"/>
            </a:pPr>
            <a:r>
              <a:rPr lang="en-US" sz="1400" dirty="0" smtClean="0"/>
              <a:t>  Rejected Flag </a:t>
            </a:r>
          </a:p>
          <a:p>
            <a:endParaRPr lang="en-US" dirty="0"/>
          </a:p>
        </p:txBody>
      </p:sp>
      <p:sp>
        <p:nvSpPr>
          <p:cNvPr id="50" name="TextBox 49"/>
          <p:cNvSpPr txBox="1"/>
          <p:nvPr/>
        </p:nvSpPr>
        <p:spPr>
          <a:xfrm>
            <a:off x="4211960" y="404664"/>
            <a:ext cx="4320480" cy="6432530"/>
          </a:xfrm>
          <a:prstGeom prst="rect">
            <a:avLst/>
          </a:prstGeom>
          <a:noFill/>
        </p:spPr>
        <p:txBody>
          <a:bodyPr wrap="square" rtlCol="0">
            <a:spAutoFit/>
          </a:bodyPr>
          <a:lstStyle/>
          <a:p>
            <a:r>
              <a:rPr lang="en-US" sz="1600" b="1" dirty="0" smtClean="0"/>
              <a:t>Silver Layer Configuration</a:t>
            </a:r>
            <a:endParaRPr lang="en-US" b="1" dirty="0" smtClean="0"/>
          </a:p>
          <a:p>
            <a:pPr>
              <a:buFont typeface="Arial"/>
              <a:buChar char="•"/>
            </a:pPr>
            <a:r>
              <a:rPr lang="en-US" sz="1400" dirty="0" smtClean="0"/>
              <a:t>  Remove Duplicates </a:t>
            </a:r>
          </a:p>
          <a:p>
            <a:pPr>
              <a:buFont typeface="Arial"/>
              <a:buChar char="•"/>
            </a:pPr>
            <a:r>
              <a:rPr lang="en-US" sz="1400" dirty="0" smtClean="0"/>
              <a:t>  Validate Primary Key </a:t>
            </a:r>
          </a:p>
          <a:p>
            <a:pPr>
              <a:buFont typeface="Arial"/>
              <a:buChar char="•"/>
            </a:pPr>
            <a:r>
              <a:rPr lang="en-US" sz="1400" dirty="0" smtClean="0"/>
              <a:t>  Null Invalid Records </a:t>
            </a:r>
          </a:p>
          <a:p>
            <a:pPr>
              <a:buFont typeface="Arial"/>
              <a:buChar char="•"/>
            </a:pPr>
            <a:r>
              <a:rPr lang="en-US" sz="1400" dirty="0" smtClean="0"/>
              <a:t>  Reject Null Mandatory Columns </a:t>
            </a:r>
          </a:p>
          <a:p>
            <a:pPr>
              <a:buFont typeface="Arial"/>
              <a:buChar char="•"/>
            </a:pPr>
            <a:r>
              <a:rPr lang="en-US" sz="1400" dirty="0" smtClean="0"/>
              <a:t>  Capture Rejected Records </a:t>
            </a:r>
          </a:p>
          <a:p>
            <a:pPr>
              <a:buFont typeface="Arial"/>
              <a:buChar char="•"/>
            </a:pPr>
            <a:r>
              <a:rPr lang="en-US" sz="1400" dirty="0" smtClean="0"/>
              <a:t>  Standardize to Null</a:t>
            </a:r>
          </a:p>
          <a:p>
            <a:pPr>
              <a:buFont typeface="Arial"/>
              <a:buChar char="•"/>
            </a:pPr>
            <a:r>
              <a:rPr lang="en-US" sz="1400" dirty="0" smtClean="0"/>
              <a:t>  Apply Business Rules </a:t>
            </a:r>
          </a:p>
          <a:p>
            <a:pPr>
              <a:buFont typeface="Arial"/>
              <a:buChar char="•"/>
            </a:pPr>
            <a:r>
              <a:rPr lang="en-US" sz="1400" dirty="0" smtClean="0"/>
              <a:t>  Default Null Strategy </a:t>
            </a:r>
          </a:p>
          <a:p>
            <a:pPr>
              <a:buFont typeface="Arial"/>
              <a:buChar char="•"/>
            </a:pPr>
            <a:r>
              <a:rPr lang="en-GB" sz="1400" dirty="0" smtClean="0"/>
              <a:t>  Validate Foreign Keys</a:t>
            </a:r>
          </a:p>
          <a:p>
            <a:pPr>
              <a:buFont typeface="Arial"/>
              <a:buChar char="•"/>
            </a:pPr>
            <a:endParaRPr lang="en-GB" sz="1400" dirty="0" smtClean="0"/>
          </a:p>
          <a:p>
            <a:r>
              <a:rPr lang="en-US" sz="1400" b="1" dirty="0" smtClean="0"/>
              <a:t>🚀    Publish Configuration</a:t>
            </a:r>
          </a:p>
          <a:p>
            <a:pPr>
              <a:buFont typeface="Arial" pitchFamily="34" charset="0"/>
              <a:buChar char="•"/>
            </a:pPr>
            <a:r>
              <a:rPr lang="en-US" sz="1400" dirty="0" smtClean="0"/>
              <a:t>  Target Database </a:t>
            </a:r>
          </a:p>
          <a:p>
            <a:pPr>
              <a:buFont typeface="Arial" pitchFamily="34" charset="0"/>
              <a:buChar char="•"/>
            </a:pPr>
            <a:r>
              <a:rPr lang="en-US" sz="1400" dirty="0" smtClean="0"/>
              <a:t>  Default Schema </a:t>
            </a:r>
          </a:p>
          <a:p>
            <a:pPr>
              <a:buFont typeface="Arial" pitchFamily="34" charset="0"/>
              <a:buChar char="•"/>
            </a:pPr>
            <a:r>
              <a:rPr lang="en-US" sz="1400" dirty="0" smtClean="0"/>
              <a:t>  Dataset Mapping </a:t>
            </a:r>
          </a:p>
          <a:p>
            <a:pPr>
              <a:buFont typeface="Arial" pitchFamily="34" charset="0"/>
              <a:buChar char="•"/>
            </a:pPr>
            <a:r>
              <a:rPr lang="en-US" sz="1400" dirty="0" smtClean="0"/>
              <a:t>  Target Table Name </a:t>
            </a:r>
          </a:p>
          <a:p>
            <a:pPr>
              <a:buFont typeface="Arial" pitchFamily="34" charset="0"/>
              <a:buChar char="•"/>
            </a:pPr>
            <a:r>
              <a:rPr lang="en-US" sz="1400" dirty="0" smtClean="0"/>
              <a:t>  Write Mode </a:t>
            </a:r>
          </a:p>
          <a:p>
            <a:pPr>
              <a:buFont typeface="Arial" pitchFamily="34" charset="0"/>
              <a:buChar char="•"/>
            </a:pPr>
            <a:r>
              <a:rPr lang="en-US" sz="1400" dirty="0" smtClean="0"/>
              <a:t>  Publish Enable/Disable</a:t>
            </a:r>
          </a:p>
          <a:p>
            <a:endParaRPr lang="en-US" sz="1400" dirty="0" smtClean="0"/>
          </a:p>
          <a:p>
            <a:r>
              <a:rPr lang="en-GB" sz="1400" b="1" dirty="0" smtClean="0"/>
              <a:t>📂    Dataset Configuration</a:t>
            </a:r>
          </a:p>
          <a:p>
            <a:r>
              <a:rPr lang="en-GB" sz="1400" dirty="0" smtClean="0"/>
              <a:t>Dataset Name </a:t>
            </a:r>
          </a:p>
          <a:p>
            <a:r>
              <a:rPr lang="en-GB" sz="1400" dirty="0" smtClean="0"/>
              <a:t>Active Status </a:t>
            </a:r>
          </a:p>
          <a:p>
            <a:r>
              <a:rPr lang="en-GB" sz="1400" dirty="0" smtClean="0"/>
              <a:t>Source Type </a:t>
            </a:r>
          </a:p>
          <a:p>
            <a:r>
              <a:rPr lang="en-GB" sz="1400" dirty="0" smtClean="0"/>
              <a:t>Source Path </a:t>
            </a:r>
          </a:p>
          <a:p>
            <a:r>
              <a:rPr lang="en-GB" sz="1400" dirty="0" smtClean="0"/>
              <a:t>File Format </a:t>
            </a:r>
          </a:p>
          <a:p>
            <a:r>
              <a:rPr lang="en-GB" sz="1400" dirty="0" smtClean="0"/>
              <a:t>Table Name</a:t>
            </a:r>
          </a:p>
          <a:p>
            <a:endParaRPr lang="en-US" sz="1400" dirty="0" smtClean="0"/>
          </a:p>
          <a:p>
            <a:endParaRPr lang="en-US" sz="1400"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404664"/>
            <a:ext cx="4248472" cy="5386090"/>
          </a:xfrm>
          <a:prstGeom prst="rect">
            <a:avLst/>
          </a:prstGeom>
          <a:noFill/>
        </p:spPr>
        <p:txBody>
          <a:bodyPr wrap="square" rtlCol="0">
            <a:spAutoFit/>
          </a:bodyPr>
          <a:lstStyle/>
          <a:p>
            <a:r>
              <a:rPr lang="en-US" sz="1600" b="1" dirty="0" smtClean="0"/>
              <a:t>Processing Configuration</a:t>
            </a:r>
          </a:p>
          <a:p>
            <a:r>
              <a:rPr lang="en-US" sz="1400" dirty="0" smtClean="0"/>
              <a:t>Load Type </a:t>
            </a:r>
          </a:p>
          <a:p>
            <a:r>
              <a:rPr lang="en-US" sz="1400" dirty="0" smtClean="0"/>
              <a:t>Watermark Column </a:t>
            </a:r>
          </a:p>
          <a:p>
            <a:r>
              <a:rPr lang="en-US" sz="1400" dirty="0" smtClean="0"/>
              <a:t>Partition Columns </a:t>
            </a:r>
          </a:p>
          <a:p>
            <a:r>
              <a:rPr lang="en-US" sz="1400" dirty="0" smtClean="0"/>
              <a:t>Flatten Required </a:t>
            </a:r>
          </a:p>
          <a:p>
            <a:endParaRPr lang="en-US" sz="1400" dirty="0" smtClean="0"/>
          </a:p>
          <a:p>
            <a:r>
              <a:rPr lang="en-US" sz="1600" b="1" dirty="0" smtClean="0"/>
              <a:t>🔑    Key Configuration</a:t>
            </a:r>
          </a:p>
          <a:p>
            <a:r>
              <a:rPr lang="en-US" sz="1400" dirty="0" smtClean="0"/>
              <a:t>Primary Key </a:t>
            </a:r>
          </a:p>
          <a:p>
            <a:r>
              <a:rPr lang="en-US" sz="1400" dirty="0" smtClean="0"/>
              <a:t>Relationships (Foreign Keys) </a:t>
            </a:r>
          </a:p>
          <a:p>
            <a:endParaRPr lang="en-US" sz="1400" dirty="0" smtClean="0"/>
          </a:p>
          <a:p>
            <a:r>
              <a:rPr lang="en-US" sz="1600" b="1" dirty="0" smtClean="0"/>
              <a:t>✅ Validation Configuration</a:t>
            </a:r>
          </a:p>
          <a:p>
            <a:r>
              <a:rPr lang="en-US" sz="1400" dirty="0" smtClean="0"/>
              <a:t>Mandatory Columns </a:t>
            </a:r>
          </a:p>
          <a:p>
            <a:r>
              <a:rPr lang="en-US" sz="1400" dirty="0" smtClean="0"/>
              <a:t>Numeric Columns </a:t>
            </a:r>
          </a:p>
          <a:p>
            <a:r>
              <a:rPr lang="en-US" sz="1400" dirty="0" smtClean="0"/>
              <a:t>Date Columns </a:t>
            </a:r>
          </a:p>
          <a:p>
            <a:r>
              <a:rPr lang="en-US" sz="1400" dirty="0" smtClean="0"/>
              <a:t>Timestamp Columns </a:t>
            </a:r>
          </a:p>
          <a:p>
            <a:r>
              <a:rPr lang="en-US" sz="1400" dirty="0" smtClean="0"/>
              <a:t>Email Columns </a:t>
            </a:r>
          </a:p>
          <a:p>
            <a:r>
              <a:rPr lang="en-US" sz="1400" dirty="0" smtClean="0"/>
              <a:t>Positive Value Columns </a:t>
            </a:r>
          </a:p>
          <a:p>
            <a:endParaRPr lang="en-GB" sz="1400" dirty="0" smtClean="0"/>
          </a:p>
          <a:p>
            <a:r>
              <a:rPr lang="en-US" sz="1600" b="1" dirty="0" smtClean="0"/>
              <a:t>💼    Business Rule Configuration</a:t>
            </a:r>
          </a:p>
          <a:p>
            <a:r>
              <a:rPr lang="en-US" sz="1400" dirty="0" err="1" smtClean="0"/>
              <a:t>Regex</a:t>
            </a:r>
            <a:r>
              <a:rPr lang="en-US" sz="1400" dirty="0" smtClean="0"/>
              <a:t> Validation </a:t>
            </a:r>
          </a:p>
          <a:p>
            <a:r>
              <a:rPr lang="en-US" sz="1400" dirty="0" smtClean="0"/>
              <a:t>Minimum Value Validation </a:t>
            </a:r>
          </a:p>
          <a:p>
            <a:r>
              <a:rPr lang="en-US" sz="1400" dirty="0" smtClean="0"/>
              <a:t>Dataset Specific Business Rules </a:t>
            </a:r>
          </a:p>
          <a:p>
            <a:endParaRPr lang="en-US" sz="1400" dirty="0" smtClean="0"/>
          </a:p>
          <a:p>
            <a:endParaRPr lang="en-US" sz="1400" dirty="0"/>
          </a:p>
        </p:txBody>
      </p:sp>
      <p:sp>
        <p:nvSpPr>
          <p:cNvPr id="3" name="TextBox 2"/>
          <p:cNvSpPr txBox="1"/>
          <p:nvPr/>
        </p:nvSpPr>
        <p:spPr>
          <a:xfrm>
            <a:off x="3995936" y="404664"/>
            <a:ext cx="4320480" cy="4524315"/>
          </a:xfrm>
          <a:prstGeom prst="rect">
            <a:avLst/>
          </a:prstGeom>
          <a:noFill/>
        </p:spPr>
        <p:txBody>
          <a:bodyPr wrap="square" rtlCol="0">
            <a:spAutoFit/>
          </a:bodyPr>
          <a:lstStyle/>
          <a:p>
            <a:r>
              <a:rPr lang="en-US" sz="1600" b="1" dirty="0" smtClean="0"/>
              <a:t>📋    Schema Configuration</a:t>
            </a:r>
          </a:p>
          <a:p>
            <a:r>
              <a:rPr lang="en-US" sz="1400" dirty="0" smtClean="0"/>
              <a:t>Column Name </a:t>
            </a:r>
          </a:p>
          <a:p>
            <a:r>
              <a:rPr lang="en-US" sz="1400" dirty="0" smtClean="0"/>
              <a:t>Data Type </a:t>
            </a:r>
          </a:p>
          <a:p>
            <a:r>
              <a:rPr lang="en-US" sz="1400" dirty="0" err="1" smtClean="0"/>
              <a:t>Nullable</a:t>
            </a:r>
            <a:r>
              <a:rPr lang="en-US" sz="1400" dirty="0" smtClean="0"/>
              <a:t> Constraint </a:t>
            </a:r>
          </a:p>
          <a:p>
            <a:endParaRPr lang="en-US" sz="1400" dirty="0" smtClean="0"/>
          </a:p>
          <a:p>
            <a:r>
              <a:rPr lang="en-US" sz="1600" b="1" dirty="0" smtClean="0"/>
              <a:t>🏗    Target Configuration</a:t>
            </a:r>
          </a:p>
          <a:p>
            <a:r>
              <a:rPr lang="en-US" sz="1400" dirty="0" smtClean="0"/>
              <a:t>Bronze Table </a:t>
            </a:r>
          </a:p>
          <a:p>
            <a:r>
              <a:rPr lang="en-US" sz="1400" dirty="0" smtClean="0"/>
              <a:t>Silver Table </a:t>
            </a:r>
          </a:p>
          <a:p>
            <a:r>
              <a:rPr lang="en-US" sz="1400" dirty="0" smtClean="0"/>
              <a:t>Gold Table </a:t>
            </a:r>
          </a:p>
          <a:p>
            <a:endParaRPr lang="en-US" sz="1400" dirty="0" smtClean="0"/>
          </a:p>
          <a:p>
            <a:r>
              <a:rPr lang="en-US" sz="1600" b="1" dirty="0" smtClean="0"/>
              <a:t>📊    Gold Layer Configuration</a:t>
            </a:r>
          </a:p>
          <a:p>
            <a:r>
              <a:rPr lang="en-US" sz="1400" dirty="0" smtClean="0"/>
              <a:t>Table Type (Fact/Dimension) </a:t>
            </a:r>
          </a:p>
          <a:p>
            <a:r>
              <a:rPr lang="en-US" sz="1400" dirty="0" smtClean="0"/>
              <a:t>Fact Name </a:t>
            </a:r>
          </a:p>
          <a:p>
            <a:r>
              <a:rPr lang="en-US" sz="1400" dirty="0" smtClean="0"/>
              <a:t>Surrogate Key </a:t>
            </a:r>
          </a:p>
          <a:p>
            <a:endParaRPr lang="en-US" sz="1400" dirty="0" smtClean="0"/>
          </a:p>
          <a:p>
            <a:r>
              <a:rPr lang="en-US" sz="1600" b="1" dirty="0" smtClean="0"/>
              <a:t>🔄    SCD Configuration</a:t>
            </a:r>
          </a:p>
          <a:p>
            <a:r>
              <a:rPr lang="en-US" sz="1400" dirty="0" smtClean="0"/>
              <a:t>SCD Enable/Disable </a:t>
            </a:r>
          </a:p>
          <a:p>
            <a:r>
              <a:rPr lang="en-US" sz="1400" dirty="0" smtClean="0"/>
              <a:t>SCD Type </a:t>
            </a:r>
          </a:p>
          <a:p>
            <a:r>
              <a:rPr lang="en-US" sz="1400" dirty="0" smtClean="0"/>
              <a:t>Tracked Columns</a:t>
            </a:r>
          </a:p>
          <a:p>
            <a:endParaRPr lang="en-US" sz="1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600" y="476672"/>
            <a:ext cx="6696744" cy="369332"/>
          </a:xfrm>
          <a:prstGeom prst="rect">
            <a:avLst/>
          </a:prstGeom>
          <a:noFill/>
        </p:spPr>
        <p:txBody>
          <a:bodyPr wrap="square" rtlCol="0">
            <a:spAutoFit/>
          </a:bodyPr>
          <a:lstStyle/>
          <a:p>
            <a:r>
              <a:rPr lang="en-GB" b="1" dirty="0" smtClean="0">
                <a:latin typeface="Times New Roman" pitchFamily="18" charset="0"/>
                <a:cs typeface="Times New Roman" pitchFamily="18" charset="0"/>
              </a:rPr>
              <a:t>Architecture</a:t>
            </a:r>
            <a:endParaRPr lang="en-US" b="1" dirty="0">
              <a:latin typeface="Times New Roman" pitchFamily="18" charset="0"/>
              <a:cs typeface="Times New Roman" pitchFamily="18" charset="0"/>
            </a:endParaRPr>
          </a:p>
        </p:txBody>
      </p:sp>
      <p:pic>
        <p:nvPicPr>
          <p:cNvPr id="3" name="Picture 2" descr="LLD(new).png"/>
          <p:cNvPicPr/>
          <p:nvPr/>
        </p:nvPicPr>
        <p:blipFill>
          <a:blip r:embed="rId2" cstate="print"/>
          <a:stretch>
            <a:fillRect/>
          </a:stretch>
        </p:blipFill>
        <p:spPr>
          <a:xfrm>
            <a:off x="971600" y="1412776"/>
            <a:ext cx="6768752" cy="36004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332656"/>
            <a:ext cx="6264696" cy="369332"/>
          </a:xfrm>
          <a:prstGeom prst="rect">
            <a:avLst/>
          </a:prstGeom>
          <a:noFill/>
        </p:spPr>
        <p:txBody>
          <a:bodyPr wrap="square" rtlCol="0">
            <a:spAutoFit/>
          </a:bodyPr>
          <a:lstStyle/>
          <a:p>
            <a:r>
              <a:rPr lang="en-GB" dirty="0" smtClean="0"/>
              <a:t>Azure </a:t>
            </a:r>
            <a:r>
              <a:rPr lang="en-GB" dirty="0" err="1" smtClean="0"/>
              <a:t>Sql</a:t>
            </a:r>
            <a:r>
              <a:rPr lang="en-GB" dirty="0" smtClean="0"/>
              <a:t> to </a:t>
            </a:r>
            <a:r>
              <a:rPr lang="en-GB" dirty="0" err="1" smtClean="0"/>
              <a:t>Adls</a:t>
            </a:r>
            <a:endParaRPr lang="en-US" dirty="0"/>
          </a:p>
        </p:txBody>
      </p:sp>
      <p:pic>
        <p:nvPicPr>
          <p:cNvPr id="3" name="Picture 2" descr="Azure_To_Adls.png"/>
          <p:cNvPicPr>
            <a:picLocks noChangeAspect="1"/>
          </p:cNvPicPr>
          <p:nvPr/>
        </p:nvPicPr>
        <p:blipFill>
          <a:blip r:embed="rId2" cstate="print"/>
          <a:stretch>
            <a:fillRect/>
          </a:stretch>
        </p:blipFill>
        <p:spPr>
          <a:xfrm>
            <a:off x="971600" y="1052736"/>
            <a:ext cx="6745891" cy="312831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cstate="print"/>
          <a:srcRect/>
          <a:stretch>
            <a:fillRect/>
          </a:stretch>
        </p:blipFill>
        <p:spPr bwMode="auto">
          <a:xfrm>
            <a:off x="827584" y="1052736"/>
            <a:ext cx="4983689" cy="2808312"/>
          </a:xfrm>
          <a:prstGeom prst="rect">
            <a:avLst/>
          </a:prstGeom>
          <a:noFill/>
          <a:ln w="9525">
            <a:noFill/>
            <a:miter lim="800000"/>
            <a:headEnd/>
            <a:tailEnd/>
          </a:ln>
          <a:effectLst/>
        </p:spPr>
      </p:pic>
      <p:sp>
        <p:nvSpPr>
          <p:cNvPr id="3" name="TextBox 2"/>
          <p:cNvSpPr txBox="1"/>
          <p:nvPr/>
        </p:nvSpPr>
        <p:spPr>
          <a:xfrm>
            <a:off x="683568" y="260648"/>
            <a:ext cx="4536504" cy="369332"/>
          </a:xfrm>
          <a:prstGeom prst="rect">
            <a:avLst/>
          </a:prstGeom>
          <a:noFill/>
        </p:spPr>
        <p:txBody>
          <a:bodyPr wrap="square" rtlCol="0">
            <a:spAutoFit/>
          </a:bodyPr>
          <a:lstStyle/>
          <a:p>
            <a:r>
              <a:rPr lang="en-GB" dirty="0" err="1" smtClean="0"/>
              <a:t>Copy_Metadata.json</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332656"/>
            <a:ext cx="7704856" cy="369332"/>
          </a:xfrm>
          <a:prstGeom prst="rect">
            <a:avLst/>
          </a:prstGeom>
          <a:noFill/>
        </p:spPr>
        <p:txBody>
          <a:bodyPr wrap="square" rtlCol="0">
            <a:spAutoFit/>
          </a:bodyPr>
          <a:lstStyle/>
          <a:p>
            <a:r>
              <a:rPr lang="en-GB" b="1" dirty="0" smtClean="0">
                <a:latin typeface="Times New Roman" pitchFamily="18" charset="0"/>
                <a:cs typeface="Times New Roman" pitchFamily="18" charset="0"/>
              </a:rPr>
              <a:t>Pipeline : </a:t>
            </a:r>
            <a:r>
              <a:rPr lang="en-GB" b="1" dirty="0" err="1" smtClean="0">
                <a:latin typeface="Times New Roman" pitchFamily="18" charset="0"/>
                <a:cs typeface="Times New Roman" pitchFamily="18" charset="0"/>
              </a:rPr>
              <a:t>Github</a:t>
            </a:r>
            <a:r>
              <a:rPr lang="en-GB" b="1" dirty="0" smtClean="0">
                <a:latin typeface="Times New Roman" pitchFamily="18" charset="0"/>
                <a:cs typeface="Times New Roman" pitchFamily="18" charset="0"/>
              </a:rPr>
              <a:t> to </a:t>
            </a:r>
            <a:r>
              <a:rPr lang="en-GB" b="1" dirty="0" err="1" smtClean="0">
                <a:latin typeface="Times New Roman" pitchFamily="18" charset="0"/>
                <a:cs typeface="Times New Roman" pitchFamily="18" charset="0"/>
              </a:rPr>
              <a:t>Adls</a:t>
            </a:r>
            <a:endParaRPr lang="en-US" b="1" dirty="0">
              <a:latin typeface="Times New Roman" pitchFamily="18" charset="0"/>
              <a:cs typeface="Times New Roman" pitchFamily="18" charset="0"/>
            </a:endParaRPr>
          </a:p>
        </p:txBody>
      </p:sp>
      <p:pic>
        <p:nvPicPr>
          <p:cNvPr id="3" name="Picture 2" descr="Github_To_Adls.png"/>
          <p:cNvPicPr>
            <a:picLocks noChangeAspect="1"/>
          </p:cNvPicPr>
          <p:nvPr/>
        </p:nvPicPr>
        <p:blipFill>
          <a:blip r:embed="rId2" cstate="print"/>
          <a:stretch>
            <a:fillRect/>
          </a:stretch>
        </p:blipFill>
        <p:spPr>
          <a:xfrm>
            <a:off x="1475656" y="908720"/>
            <a:ext cx="5688632" cy="2683867"/>
          </a:xfrm>
          <a:prstGeom prst="rect">
            <a:avLst/>
          </a:prstGeom>
        </p:spPr>
      </p:pic>
      <p:sp>
        <p:nvSpPr>
          <p:cNvPr id="4" name="TextBox 3"/>
          <p:cNvSpPr txBox="1"/>
          <p:nvPr/>
        </p:nvSpPr>
        <p:spPr>
          <a:xfrm>
            <a:off x="755576" y="3645024"/>
            <a:ext cx="7560840" cy="2893100"/>
          </a:xfrm>
          <a:prstGeom prst="rect">
            <a:avLst/>
          </a:prstGeom>
          <a:noFill/>
        </p:spPr>
        <p:txBody>
          <a:bodyPr wrap="square" rtlCol="0">
            <a:spAutoFit/>
          </a:bodyPr>
          <a:lstStyle/>
          <a:p>
            <a:r>
              <a:rPr lang="en-GB" sz="1400" b="1" dirty="0" smtClean="0">
                <a:latin typeface="Times New Roman" pitchFamily="18" charset="0"/>
                <a:cs typeface="Times New Roman" pitchFamily="18" charset="0"/>
              </a:rPr>
              <a:t>Lookup Activity</a:t>
            </a:r>
            <a:r>
              <a:rPr lang="en-GB" sz="1400" dirty="0" smtClean="0">
                <a:latin typeface="Times New Roman" pitchFamily="18" charset="0"/>
                <a:cs typeface="Times New Roman" pitchFamily="18" charset="0"/>
              </a:rPr>
              <a:t> </a:t>
            </a:r>
          </a:p>
          <a:p>
            <a:r>
              <a:rPr lang="en-GB" sz="1400" dirty="0" smtClean="0">
                <a:latin typeface="Times New Roman" pitchFamily="18" charset="0"/>
                <a:cs typeface="Times New Roman" pitchFamily="18" charset="0"/>
              </a:rPr>
              <a:t>Reads the configuration file that is uploaded in the </a:t>
            </a:r>
            <a:r>
              <a:rPr lang="en-GB" sz="1400" dirty="0" err="1" smtClean="0">
                <a:latin typeface="Times New Roman" pitchFamily="18" charset="0"/>
                <a:cs typeface="Times New Roman" pitchFamily="18" charset="0"/>
              </a:rPr>
              <a:t>github</a:t>
            </a:r>
            <a:r>
              <a:rPr lang="en-GB" sz="1400" dirty="0" smtClean="0">
                <a:latin typeface="Times New Roman" pitchFamily="18" charset="0"/>
                <a:cs typeface="Times New Roman" pitchFamily="18" charset="0"/>
              </a:rPr>
              <a:t> which has details like path ,</a:t>
            </a:r>
            <a:r>
              <a:rPr lang="en-GB" sz="1400" dirty="0" err="1" smtClean="0">
                <a:latin typeface="Times New Roman" pitchFamily="18" charset="0"/>
                <a:cs typeface="Times New Roman" pitchFamily="18" charset="0"/>
              </a:rPr>
              <a:t>datasetname</a:t>
            </a:r>
            <a:r>
              <a:rPr lang="en-GB" sz="1400" dirty="0" smtClean="0">
                <a:latin typeface="Times New Roman" pitchFamily="18" charset="0"/>
                <a:cs typeface="Times New Roman" pitchFamily="18" charset="0"/>
              </a:rPr>
              <a:t> , and type of data. </a:t>
            </a:r>
          </a:p>
          <a:p>
            <a:r>
              <a:rPr lang="en-GB" sz="1400" dirty="0" smtClean="0">
                <a:latin typeface="Times New Roman" pitchFamily="18" charset="0"/>
                <a:cs typeface="Times New Roman" pitchFamily="18" charset="0"/>
              </a:rPr>
              <a:t>Retrieves </a:t>
            </a:r>
            <a:r>
              <a:rPr lang="en-GB" sz="1400" dirty="0" err="1" smtClean="0">
                <a:latin typeface="Times New Roman" pitchFamily="18" charset="0"/>
                <a:cs typeface="Times New Roman" pitchFamily="18" charset="0"/>
              </a:rPr>
              <a:t>theinformation</a:t>
            </a:r>
            <a:r>
              <a:rPr lang="en-GB" sz="1400" dirty="0" smtClean="0">
                <a:latin typeface="Times New Roman" pitchFamily="18" charset="0"/>
                <a:cs typeface="Times New Roman" pitchFamily="18" charset="0"/>
              </a:rPr>
              <a:t> as a list. </a:t>
            </a:r>
          </a:p>
          <a:p>
            <a:pPr lvl="1"/>
            <a:endParaRPr lang="en-GB" sz="1400" dirty="0" smtClean="0">
              <a:latin typeface="Times New Roman" pitchFamily="18" charset="0"/>
              <a:cs typeface="Times New Roman" pitchFamily="18" charset="0"/>
            </a:endParaRPr>
          </a:p>
          <a:p>
            <a:r>
              <a:rPr lang="en-GB" sz="1400" b="1" dirty="0" smtClean="0">
                <a:latin typeface="Times New Roman" pitchFamily="18" charset="0"/>
                <a:cs typeface="Times New Roman" pitchFamily="18" charset="0"/>
              </a:rPr>
              <a:t>For Each Activity</a:t>
            </a:r>
            <a:r>
              <a:rPr lang="en-GB" sz="1400" dirty="0" smtClean="0">
                <a:latin typeface="Times New Roman" pitchFamily="18" charset="0"/>
                <a:cs typeface="Times New Roman" pitchFamily="18" charset="0"/>
              </a:rPr>
              <a:t> </a:t>
            </a:r>
          </a:p>
          <a:p>
            <a:r>
              <a:rPr lang="en-GB" sz="1400" dirty="0" smtClean="0">
                <a:latin typeface="Times New Roman" pitchFamily="18" charset="0"/>
                <a:cs typeface="Times New Roman" pitchFamily="18" charset="0"/>
              </a:rPr>
              <a:t>Iterates through each dataset returned by the Lookup activity. </a:t>
            </a:r>
          </a:p>
          <a:p>
            <a:r>
              <a:rPr lang="en-GB" sz="1400" dirty="0" smtClean="0">
                <a:latin typeface="Times New Roman" pitchFamily="18" charset="0"/>
                <a:cs typeface="Times New Roman" pitchFamily="18" charset="0"/>
              </a:rPr>
              <a:t>Executes the ingestion logic for one dataset at a time. </a:t>
            </a:r>
          </a:p>
          <a:p>
            <a:pPr lvl="1"/>
            <a:endParaRPr lang="en-GB" sz="1400" dirty="0" smtClean="0">
              <a:latin typeface="Times New Roman" pitchFamily="18" charset="0"/>
              <a:cs typeface="Times New Roman" pitchFamily="18" charset="0"/>
            </a:endParaRPr>
          </a:p>
          <a:p>
            <a:r>
              <a:rPr lang="en-GB" sz="1400" b="1" dirty="0" smtClean="0">
                <a:latin typeface="Times New Roman" pitchFamily="18" charset="0"/>
                <a:cs typeface="Times New Roman" pitchFamily="18" charset="0"/>
              </a:rPr>
              <a:t>If Condition</a:t>
            </a:r>
            <a:r>
              <a:rPr lang="en-GB" sz="1400" dirty="0" smtClean="0">
                <a:latin typeface="Times New Roman" pitchFamily="18" charset="0"/>
                <a:cs typeface="Times New Roman" pitchFamily="18" charset="0"/>
              </a:rPr>
              <a:t> </a:t>
            </a:r>
          </a:p>
          <a:p>
            <a:r>
              <a:rPr lang="en-GB" sz="1400" dirty="0" smtClean="0">
                <a:latin typeface="Times New Roman" pitchFamily="18" charset="0"/>
                <a:cs typeface="Times New Roman" pitchFamily="18" charset="0"/>
              </a:rPr>
              <a:t>Checks the source type defined in the file. </a:t>
            </a:r>
          </a:p>
          <a:p>
            <a:r>
              <a:rPr lang="en-GB" sz="1400" dirty="0" smtClean="0">
                <a:latin typeface="Times New Roman" pitchFamily="18" charset="0"/>
                <a:cs typeface="Times New Roman" pitchFamily="18" charset="0"/>
              </a:rPr>
              <a:t>Routes the execution to the appropriate Copy Data activity. </a:t>
            </a:r>
          </a:p>
          <a:p>
            <a:pPr lvl="1"/>
            <a:endParaRPr lang="en-GB" sz="1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dmin\OneDrive\Desktop\Snapshots\ADF\PipeLines\Bronze_Layer.png"/>
          <p:cNvPicPr>
            <a:picLocks noChangeAspect="1" noChangeArrowheads="1"/>
          </p:cNvPicPr>
          <p:nvPr/>
        </p:nvPicPr>
        <p:blipFill>
          <a:blip r:embed="rId2" cstate="print"/>
          <a:srcRect/>
          <a:stretch>
            <a:fillRect/>
          </a:stretch>
        </p:blipFill>
        <p:spPr bwMode="auto">
          <a:xfrm>
            <a:off x="971600" y="1124744"/>
            <a:ext cx="6408712" cy="2859271"/>
          </a:xfrm>
          <a:prstGeom prst="rect">
            <a:avLst/>
          </a:prstGeom>
          <a:noFill/>
        </p:spPr>
      </p:pic>
      <p:sp>
        <p:nvSpPr>
          <p:cNvPr id="4" name="TextBox 3"/>
          <p:cNvSpPr txBox="1"/>
          <p:nvPr/>
        </p:nvSpPr>
        <p:spPr>
          <a:xfrm>
            <a:off x="827584" y="404664"/>
            <a:ext cx="4320480" cy="369332"/>
          </a:xfrm>
          <a:prstGeom prst="rect">
            <a:avLst/>
          </a:prstGeom>
          <a:noFill/>
        </p:spPr>
        <p:txBody>
          <a:bodyPr wrap="square" rtlCol="0">
            <a:spAutoFit/>
          </a:bodyPr>
          <a:lstStyle/>
          <a:p>
            <a:r>
              <a:rPr lang="en-GB" dirty="0" smtClean="0"/>
              <a:t>Pipeline : Bronze Layer</a:t>
            </a:r>
            <a:endParaRPr lang="en-US" dirty="0"/>
          </a:p>
        </p:txBody>
      </p:sp>
      <p:sp>
        <p:nvSpPr>
          <p:cNvPr id="5" name="TextBox 4"/>
          <p:cNvSpPr txBox="1"/>
          <p:nvPr/>
        </p:nvSpPr>
        <p:spPr>
          <a:xfrm>
            <a:off x="827584" y="4365104"/>
            <a:ext cx="7128792" cy="1600438"/>
          </a:xfrm>
          <a:prstGeom prst="rect">
            <a:avLst/>
          </a:prstGeom>
          <a:noFill/>
        </p:spPr>
        <p:txBody>
          <a:bodyPr wrap="square" rtlCol="0">
            <a:spAutoFit/>
          </a:bodyPr>
          <a:lstStyle/>
          <a:p>
            <a:r>
              <a:rPr lang="en-US" sz="1400" dirty="0" smtClean="0">
                <a:latin typeface="Times New Roman" pitchFamily="18" charset="0"/>
                <a:cs typeface="Times New Roman" pitchFamily="18" charset="0"/>
              </a:rPr>
              <a:t>Read dataset configuration from metadata.</a:t>
            </a:r>
          </a:p>
          <a:p>
            <a:r>
              <a:rPr lang="en-US" sz="1400" dirty="0" smtClean="0">
                <a:latin typeface="Times New Roman" pitchFamily="18" charset="0"/>
                <a:cs typeface="Times New Roman" pitchFamily="18" charset="0"/>
              </a:rPr>
              <a:t> </a:t>
            </a:r>
          </a:p>
          <a:p>
            <a:r>
              <a:rPr lang="en-US" sz="1400" dirty="0" smtClean="0">
                <a:latin typeface="Times New Roman" pitchFamily="18" charset="0"/>
                <a:cs typeface="Times New Roman" pitchFamily="18" charset="0"/>
              </a:rPr>
              <a:t>Execute Bronze notebook for each dataset. </a:t>
            </a:r>
          </a:p>
          <a:p>
            <a:endParaRPr lang="en-US" sz="1400" dirty="0" smtClean="0">
              <a:latin typeface="Times New Roman" pitchFamily="18" charset="0"/>
              <a:cs typeface="Times New Roman" pitchFamily="18" charset="0"/>
            </a:endParaRPr>
          </a:p>
          <a:p>
            <a:r>
              <a:rPr lang="en-US" sz="1400" dirty="0" smtClean="0">
                <a:latin typeface="Times New Roman" pitchFamily="18" charset="0"/>
                <a:cs typeface="Times New Roman" pitchFamily="18" charset="0"/>
              </a:rPr>
              <a:t>Convert raw data into Delta format. </a:t>
            </a:r>
          </a:p>
          <a:p>
            <a:endParaRPr lang="en-US" sz="1400" dirty="0" smtClean="0">
              <a:latin typeface="Times New Roman" pitchFamily="18" charset="0"/>
              <a:cs typeface="Times New Roman" pitchFamily="18" charset="0"/>
            </a:endParaRPr>
          </a:p>
          <a:p>
            <a:r>
              <a:rPr lang="en-US" sz="1400" dirty="0" smtClean="0">
                <a:latin typeface="Times New Roman" pitchFamily="18" charset="0"/>
                <a:cs typeface="Times New Roman" pitchFamily="18" charset="0"/>
              </a:rPr>
              <a:t>Preserve original source data with audit information.</a:t>
            </a: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332656"/>
            <a:ext cx="8496944" cy="7448193"/>
          </a:xfrm>
          <a:prstGeom prst="rect">
            <a:avLst/>
          </a:prstGeom>
          <a:noFill/>
        </p:spPr>
        <p:txBody>
          <a:bodyPr wrap="square" rtlCol="0">
            <a:spAutoFit/>
          </a:bodyPr>
          <a:lstStyle/>
          <a:p>
            <a:r>
              <a:rPr lang="en-US" sz="1600" b="1" dirty="0" smtClean="0">
                <a:solidFill>
                  <a:srgbClr val="FFC000"/>
                </a:solidFill>
              </a:rPr>
              <a:t>📂</a:t>
            </a:r>
            <a:r>
              <a:rPr lang="en-US" sz="1600" dirty="0" smtClean="0"/>
              <a:t>     </a:t>
            </a:r>
            <a:r>
              <a:rPr lang="en-US" sz="1400" b="1" dirty="0" err="1" smtClean="0">
                <a:latin typeface="Times New Roman" pitchFamily="18" charset="0"/>
                <a:cs typeface="Times New Roman" pitchFamily="18" charset="0"/>
              </a:rPr>
              <a:t>read_source_file</a:t>
            </a:r>
            <a:r>
              <a:rPr lang="en-US" sz="1400" b="1" dirty="0" smtClean="0">
                <a:latin typeface="Times New Roman" pitchFamily="18" charset="0"/>
                <a:cs typeface="Times New Roman" pitchFamily="18" charset="0"/>
              </a:rPr>
              <a:t>()</a:t>
            </a:r>
          </a:p>
          <a:p>
            <a:endParaRPr lang="en-US" sz="1400" b="1" dirty="0" smtClean="0">
              <a:latin typeface="Times New Roman" pitchFamily="18" charset="0"/>
              <a:cs typeface="Times New Roman" pitchFamily="18" charset="0"/>
            </a:endParaRPr>
          </a:p>
          <a:p>
            <a:r>
              <a:rPr lang="en-GB" sz="1400" dirty="0" smtClean="0"/>
              <a:t>Reads raw files from ADLS Gen2.</a:t>
            </a:r>
          </a:p>
          <a:p>
            <a:endParaRPr lang="en-GB" sz="1400" dirty="0">
              <a:latin typeface="Times New Roman" pitchFamily="18" charset="0"/>
              <a:cs typeface="Times New Roman" pitchFamily="18" charset="0"/>
            </a:endParaRPr>
          </a:p>
          <a:p>
            <a:r>
              <a:rPr lang="en-GB" sz="1400" b="1" dirty="0" smtClean="0"/>
              <a:t>📅     </a:t>
            </a:r>
            <a:r>
              <a:rPr lang="en-GB" sz="1400" b="1" dirty="0" err="1" smtClean="0"/>
              <a:t>get_watermark</a:t>
            </a:r>
            <a:r>
              <a:rPr lang="en-GB" sz="1400" b="1" dirty="0" smtClean="0"/>
              <a:t>()</a:t>
            </a:r>
          </a:p>
          <a:p>
            <a:endParaRPr lang="en-GB" sz="1400" b="1" dirty="0" smtClean="0"/>
          </a:p>
          <a:p>
            <a:r>
              <a:rPr lang="en-GB" sz="1400" dirty="0" smtClean="0">
                <a:latin typeface="Times New Roman" pitchFamily="18" charset="0"/>
                <a:cs typeface="Times New Roman" pitchFamily="18" charset="0"/>
              </a:rPr>
              <a:t>Retrieves the last successfully processed watermark value.</a:t>
            </a:r>
          </a:p>
          <a:p>
            <a:r>
              <a:rPr lang="en-GB" sz="1400" dirty="0" smtClean="0">
                <a:latin typeface="Times New Roman" pitchFamily="18" charset="0"/>
                <a:cs typeface="Times New Roman" pitchFamily="18" charset="0"/>
              </a:rPr>
              <a:t> </a:t>
            </a:r>
          </a:p>
          <a:p>
            <a:r>
              <a:rPr lang="en-GB" sz="1400" dirty="0" smtClean="0">
                <a:latin typeface="Times New Roman" pitchFamily="18" charset="0"/>
                <a:cs typeface="Times New Roman" pitchFamily="18" charset="0"/>
              </a:rPr>
              <a:t>Used to identify new or modified records.</a:t>
            </a:r>
          </a:p>
          <a:p>
            <a:endParaRPr lang="en-GB" sz="1400" dirty="0">
              <a:latin typeface="Times New Roman" pitchFamily="18" charset="0"/>
              <a:cs typeface="Times New Roman" pitchFamily="18" charset="0"/>
            </a:endParaRPr>
          </a:p>
          <a:p>
            <a:r>
              <a:rPr lang="en-US" sz="1400" dirty="0" smtClean="0"/>
              <a:t>🔄    </a:t>
            </a:r>
            <a:r>
              <a:rPr lang="en-US" sz="1400" b="1" dirty="0" smtClean="0"/>
              <a:t>Incremental Filter</a:t>
            </a:r>
          </a:p>
          <a:p>
            <a:endParaRPr lang="en-GB" sz="1400" b="1" dirty="0">
              <a:latin typeface="Times New Roman" pitchFamily="18" charset="0"/>
              <a:cs typeface="Times New Roman" pitchFamily="18" charset="0"/>
            </a:endParaRPr>
          </a:p>
          <a:p>
            <a:r>
              <a:rPr lang="en-GB" sz="1400" dirty="0" smtClean="0">
                <a:latin typeface="Times New Roman" pitchFamily="18" charset="0"/>
                <a:cs typeface="Times New Roman" pitchFamily="18" charset="0"/>
              </a:rPr>
              <a:t>Here we compare the raw data with the previous watermark value and the data whose watermark column’s data is updated </a:t>
            </a:r>
            <a:r>
              <a:rPr lang="en-GB" sz="1400" dirty="0" err="1" smtClean="0">
                <a:latin typeface="Times New Roman" pitchFamily="18" charset="0"/>
                <a:cs typeface="Times New Roman" pitchFamily="18" charset="0"/>
              </a:rPr>
              <a:t>i.e</a:t>
            </a:r>
            <a:r>
              <a:rPr lang="en-GB" sz="1400" dirty="0" smtClean="0">
                <a:latin typeface="Times New Roman" pitchFamily="18" charset="0"/>
                <a:cs typeface="Times New Roman" pitchFamily="18" charset="0"/>
              </a:rPr>
              <a:t> increased then only we are going to append the data.</a:t>
            </a:r>
          </a:p>
          <a:p>
            <a:endParaRPr lang="en-GB" sz="1400" dirty="0" smtClean="0"/>
          </a:p>
          <a:p>
            <a:r>
              <a:rPr lang="en-GB" sz="1400" b="1" dirty="0" smtClean="0"/>
              <a:t>📝    </a:t>
            </a:r>
            <a:r>
              <a:rPr lang="en-GB" sz="1400" b="1" dirty="0" err="1" smtClean="0"/>
              <a:t>add_audit_columns</a:t>
            </a:r>
            <a:r>
              <a:rPr lang="en-GB" sz="1400" b="1" dirty="0" smtClean="0"/>
              <a:t>()</a:t>
            </a:r>
          </a:p>
          <a:p>
            <a:endParaRPr lang="en-GB" sz="1400" b="1" dirty="0" smtClean="0"/>
          </a:p>
          <a:p>
            <a:r>
              <a:rPr lang="en-GB" sz="1400" dirty="0" smtClean="0">
                <a:latin typeface="Times New Roman" pitchFamily="18" charset="0"/>
                <a:cs typeface="Times New Roman" pitchFamily="18" charset="0"/>
              </a:rPr>
              <a:t>Adds technical columns such as:</a:t>
            </a:r>
          </a:p>
          <a:p>
            <a:r>
              <a:rPr lang="en-GB" sz="1400" dirty="0" smtClean="0">
                <a:latin typeface="Times New Roman" pitchFamily="18" charset="0"/>
                <a:cs typeface="Times New Roman" pitchFamily="18" charset="0"/>
              </a:rPr>
              <a:t>_</a:t>
            </a:r>
            <a:r>
              <a:rPr lang="en-GB" sz="1400" dirty="0" err="1" smtClean="0">
                <a:latin typeface="Times New Roman" pitchFamily="18" charset="0"/>
                <a:cs typeface="Times New Roman" pitchFamily="18" charset="0"/>
              </a:rPr>
              <a:t>AdfPipelineRunId</a:t>
            </a:r>
            <a:r>
              <a:rPr lang="en-GB" sz="1400" dirty="0" smtClean="0">
                <a:latin typeface="Times New Roman" pitchFamily="18" charset="0"/>
                <a:cs typeface="Times New Roman" pitchFamily="18" charset="0"/>
              </a:rPr>
              <a:t> </a:t>
            </a:r>
          </a:p>
          <a:p>
            <a:r>
              <a:rPr lang="en-GB" sz="1400" dirty="0" smtClean="0">
                <a:latin typeface="Times New Roman" pitchFamily="18" charset="0"/>
                <a:cs typeface="Times New Roman" pitchFamily="18" charset="0"/>
              </a:rPr>
              <a:t>_</a:t>
            </a:r>
            <a:r>
              <a:rPr lang="en-GB" sz="1400" dirty="0" err="1" smtClean="0">
                <a:latin typeface="Times New Roman" pitchFamily="18" charset="0"/>
                <a:cs typeface="Times New Roman" pitchFamily="18" charset="0"/>
              </a:rPr>
              <a:t>IngestionTimestamp</a:t>
            </a:r>
            <a:r>
              <a:rPr lang="en-GB" sz="1400" dirty="0" smtClean="0">
                <a:latin typeface="Times New Roman" pitchFamily="18" charset="0"/>
                <a:cs typeface="Times New Roman" pitchFamily="18" charset="0"/>
              </a:rPr>
              <a:t> </a:t>
            </a:r>
          </a:p>
          <a:p>
            <a:endParaRPr lang="en-GB" sz="1400" dirty="0">
              <a:latin typeface="Times New Roman" pitchFamily="18" charset="0"/>
              <a:cs typeface="Times New Roman" pitchFamily="18" charset="0"/>
            </a:endParaRPr>
          </a:p>
          <a:p>
            <a:r>
              <a:rPr lang="en-GB" sz="1400" b="1" dirty="0" smtClean="0"/>
              <a:t>💾    </a:t>
            </a:r>
            <a:r>
              <a:rPr lang="en-GB" sz="1400" b="1" dirty="0" err="1" smtClean="0"/>
              <a:t>write_delta</a:t>
            </a:r>
            <a:r>
              <a:rPr lang="en-GB" sz="1400" b="1" dirty="0" smtClean="0"/>
              <a:t>()</a:t>
            </a:r>
          </a:p>
          <a:p>
            <a:endParaRPr lang="en-GB" sz="1400" b="1" dirty="0" smtClean="0"/>
          </a:p>
          <a:p>
            <a:r>
              <a:rPr lang="en-GB" sz="1400" dirty="0" smtClean="0"/>
              <a:t>Stores the incremental records in the Bronze Delta tables.</a:t>
            </a:r>
          </a:p>
          <a:p>
            <a:endParaRPr lang="en-GB" sz="1400" dirty="0" smtClean="0"/>
          </a:p>
          <a:p>
            <a:r>
              <a:rPr lang="en-GB" sz="1400" b="1" dirty="0" smtClean="0"/>
              <a:t>🔄    </a:t>
            </a:r>
            <a:r>
              <a:rPr lang="en-GB" sz="1400" b="1" dirty="0" err="1" smtClean="0"/>
              <a:t>update_watermark</a:t>
            </a:r>
            <a:r>
              <a:rPr lang="en-GB" sz="1400" b="1" dirty="0" smtClean="0"/>
              <a:t>()</a:t>
            </a:r>
          </a:p>
          <a:p>
            <a:r>
              <a:rPr lang="en-GB" sz="1400" dirty="0" smtClean="0"/>
              <a:t>After a successful load:</a:t>
            </a:r>
          </a:p>
          <a:p>
            <a:r>
              <a:rPr lang="en-GB" sz="1400" dirty="0" smtClean="0"/>
              <a:t>Finds the latest watermark value from the processed records. </a:t>
            </a:r>
          </a:p>
          <a:p>
            <a:r>
              <a:rPr lang="en-GB" sz="1400" dirty="0" smtClean="0"/>
              <a:t>Stores it for the next execution. </a:t>
            </a:r>
          </a:p>
          <a:p>
            <a:endParaRPr lang="en-GB" sz="1400" dirty="0" smtClean="0"/>
          </a:p>
          <a:p>
            <a:endParaRPr lang="en-GB" sz="1400" dirty="0" smtClean="0">
              <a:latin typeface="Times New Roman" pitchFamily="18" charset="0"/>
              <a:cs typeface="Times New Roman" pitchFamily="18" charset="0"/>
            </a:endParaRPr>
          </a:p>
          <a:p>
            <a:endParaRPr lang="en-GB" sz="1400" dirty="0" smtClean="0">
              <a:latin typeface="Times New Roman" pitchFamily="18" charset="0"/>
              <a:cs typeface="Times New Roman" pitchFamily="18" charset="0"/>
            </a:endParaRPr>
          </a:p>
          <a:p>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332656"/>
            <a:ext cx="4608512" cy="369332"/>
          </a:xfrm>
          <a:prstGeom prst="rect">
            <a:avLst/>
          </a:prstGeom>
          <a:noFill/>
        </p:spPr>
        <p:txBody>
          <a:bodyPr wrap="square" rtlCol="0">
            <a:spAutoFit/>
          </a:bodyPr>
          <a:lstStyle/>
          <a:p>
            <a:r>
              <a:rPr lang="en-GB" b="1" dirty="0" smtClean="0">
                <a:latin typeface="Times New Roman" pitchFamily="18" charset="0"/>
                <a:cs typeface="Times New Roman" pitchFamily="18" charset="0"/>
              </a:rPr>
              <a:t>Pipeline : Silver Layer</a:t>
            </a:r>
            <a:endParaRPr lang="en-US" b="1" dirty="0">
              <a:latin typeface="Times New Roman" pitchFamily="18" charset="0"/>
              <a:cs typeface="Times New Roman" pitchFamily="18" charset="0"/>
            </a:endParaRPr>
          </a:p>
        </p:txBody>
      </p:sp>
      <p:pic>
        <p:nvPicPr>
          <p:cNvPr id="3" name="Picture 2" descr="Silver_Pipeline.png"/>
          <p:cNvPicPr>
            <a:picLocks noChangeAspect="1"/>
          </p:cNvPicPr>
          <p:nvPr/>
        </p:nvPicPr>
        <p:blipFill>
          <a:blip r:embed="rId2" cstate="print"/>
          <a:stretch>
            <a:fillRect/>
          </a:stretch>
        </p:blipFill>
        <p:spPr>
          <a:xfrm>
            <a:off x="1187624" y="1484784"/>
            <a:ext cx="5760640" cy="271784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332656"/>
            <a:ext cx="7920880" cy="6555641"/>
          </a:xfrm>
          <a:prstGeom prst="rect">
            <a:avLst/>
          </a:prstGeom>
          <a:noFill/>
        </p:spPr>
        <p:txBody>
          <a:bodyPr wrap="square" rtlCol="0">
            <a:spAutoFit/>
          </a:bodyPr>
          <a:lstStyle/>
          <a:p>
            <a:r>
              <a:rPr lang="en-US" sz="1400" b="1" dirty="0" smtClean="0"/>
              <a:t>⚙️ Processing Steps</a:t>
            </a:r>
          </a:p>
          <a:p>
            <a:endParaRPr lang="en-US" sz="1400" b="1" dirty="0" smtClean="0"/>
          </a:p>
          <a:p>
            <a:r>
              <a:rPr lang="en-US" sz="1400" b="1" dirty="0" smtClean="0"/>
              <a:t>📂    </a:t>
            </a:r>
            <a:r>
              <a:rPr lang="en-US" sz="1400" b="1" dirty="0" err="1" smtClean="0"/>
              <a:t>read_delta</a:t>
            </a:r>
            <a:r>
              <a:rPr lang="en-US" sz="1400" b="1" dirty="0" smtClean="0"/>
              <a:t>()</a:t>
            </a:r>
          </a:p>
          <a:p>
            <a:endParaRPr lang="en-US" sz="1400" b="1" dirty="0" smtClean="0"/>
          </a:p>
          <a:p>
            <a:r>
              <a:rPr lang="en-US" sz="1400" dirty="0" smtClean="0"/>
              <a:t>Reads Bronze Delta tables from ADLS. </a:t>
            </a:r>
          </a:p>
          <a:p>
            <a:r>
              <a:rPr lang="en-US" sz="1400" dirty="0" smtClean="0"/>
              <a:t>Loads data into Spark </a:t>
            </a:r>
            <a:r>
              <a:rPr lang="en-US" sz="1400" dirty="0" err="1" smtClean="0"/>
              <a:t>DataFrame</a:t>
            </a:r>
            <a:r>
              <a:rPr lang="en-US" sz="1400" dirty="0" smtClean="0"/>
              <a:t>. </a:t>
            </a:r>
          </a:p>
          <a:p>
            <a:endParaRPr lang="en-GB" sz="1400" dirty="0"/>
          </a:p>
          <a:p>
            <a:r>
              <a:rPr lang="en-GB" sz="1400" b="1" dirty="0" smtClean="0"/>
              <a:t>🔄    </a:t>
            </a:r>
            <a:r>
              <a:rPr lang="en-GB" sz="1400" b="1" dirty="0" err="1" smtClean="0"/>
              <a:t>flatten_df</a:t>
            </a:r>
            <a:r>
              <a:rPr lang="en-GB" sz="1400" b="1" dirty="0" smtClean="0"/>
              <a:t>()</a:t>
            </a:r>
          </a:p>
          <a:p>
            <a:endParaRPr lang="en-GB" sz="1400" b="1" dirty="0" smtClean="0"/>
          </a:p>
          <a:p>
            <a:r>
              <a:rPr lang="en-GB" sz="1400" dirty="0" smtClean="0"/>
              <a:t>Flattens nested JSON structures. </a:t>
            </a:r>
          </a:p>
          <a:p>
            <a:r>
              <a:rPr lang="en-GB" sz="1400" dirty="0" smtClean="0"/>
              <a:t>Executed only when </a:t>
            </a:r>
            <a:r>
              <a:rPr lang="en-GB" sz="1400" dirty="0" err="1" smtClean="0"/>
              <a:t>flatten_required</a:t>
            </a:r>
            <a:r>
              <a:rPr lang="en-GB" sz="1400" dirty="0" smtClean="0"/>
              <a:t> = true.</a:t>
            </a:r>
          </a:p>
          <a:p>
            <a:endParaRPr lang="en-US" sz="1400" dirty="0" smtClean="0"/>
          </a:p>
          <a:p>
            <a:endParaRPr lang="en-US" sz="1400" dirty="0" smtClean="0"/>
          </a:p>
          <a:p>
            <a:r>
              <a:rPr lang="en-US" sz="1400" b="1" dirty="0" smtClean="0"/>
              <a:t>🔑    </a:t>
            </a:r>
            <a:r>
              <a:rPr lang="en-US" sz="1400" b="1" dirty="0" err="1" smtClean="0"/>
              <a:t>validate_primary_key</a:t>
            </a:r>
            <a:r>
              <a:rPr lang="en-US" sz="1400" b="1" dirty="0" smtClean="0"/>
              <a:t>()</a:t>
            </a:r>
          </a:p>
          <a:p>
            <a:endParaRPr lang="en-US" sz="1400" b="1" dirty="0" smtClean="0"/>
          </a:p>
          <a:p>
            <a:r>
              <a:rPr lang="en-US" sz="1400" dirty="0" smtClean="0"/>
              <a:t>Checks for NULL Primary Keys. </a:t>
            </a:r>
          </a:p>
          <a:p>
            <a:r>
              <a:rPr lang="en-US" sz="1400" dirty="0" smtClean="0"/>
              <a:t>Ensures uniqueness of records. </a:t>
            </a:r>
          </a:p>
          <a:p>
            <a:endParaRPr lang="en-US" sz="1400" dirty="0" smtClean="0"/>
          </a:p>
          <a:p>
            <a:r>
              <a:rPr lang="en-US" sz="1400" b="1" dirty="0" smtClean="0"/>
              <a:t>🔄    </a:t>
            </a:r>
            <a:r>
              <a:rPr lang="en-US" sz="1400" b="1" dirty="0" err="1" smtClean="0"/>
              <a:t>remove_duplicates</a:t>
            </a:r>
            <a:r>
              <a:rPr lang="en-US" sz="1400" b="1" dirty="0" smtClean="0"/>
              <a:t>()</a:t>
            </a:r>
          </a:p>
          <a:p>
            <a:endParaRPr lang="en-US" sz="1400" b="1" dirty="0" smtClean="0"/>
          </a:p>
          <a:p>
            <a:r>
              <a:rPr lang="en-US" sz="1400" dirty="0" smtClean="0"/>
              <a:t>Removes duplicate records. </a:t>
            </a:r>
          </a:p>
          <a:p>
            <a:r>
              <a:rPr lang="en-US" sz="1400" dirty="0" smtClean="0"/>
              <a:t>Uses Primary Key defined in metadata. </a:t>
            </a:r>
          </a:p>
          <a:p>
            <a:endParaRPr lang="en-GB" sz="1400" dirty="0"/>
          </a:p>
          <a:p>
            <a:r>
              <a:rPr lang="en-US" sz="1400" b="1" dirty="0" smtClean="0"/>
              <a:t>📋    </a:t>
            </a:r>
            <a:r>
              <a:rPr lang="en-US" sz="1400" b="1" dirty="0" err="1" smtClean="0"/>
              <a:t>apply_schema</a:t>
            </a:r>
            <a:r>
              <a:rPr lang="en-US" sz="1400" b="1" dirty="0" smtClean="0"/>
              <a:t>()</a:t>
            </a:r>
          </a:p>
          <a:p>
            <a:endParaRPr lang="en-US" sz="1400" b="1" dirty="0" smtClean="0"/>
          </a:p>
          <a:p>
            <a:r>
              <a:rPr lang="en-US" sz="1400" dirty="0" smtClean="0"/>
              <a:t>Reads schema from metadata. </a:t>
            </a:r>
          </a:p>
          <a:p>
            <a:r>
              <a:rPr lang="en-US" sz="1400" dirty="0" smtClean="0"/>
              <a:t>Converts columns to appropriate data types. </a:t>
            </a:r>
          </a:p>
          <a:p>
            <a:r>
              <a:rPr lang="en-US" sz="1400" dirty="0" smtClean="0"/>
              <a:t>Standardizes column structure. </a:t>
            </a:r>
          </a:p>
          <a:p>
            <a:endParaRPr lang="en-US" sz="1400" dirty="0" smtClean="0"/>
          </a:p>
          <a:p>
            <a:endParaRPr lang="en-US" sz="1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332656"/>
            <a:ext cx="7776864" cy="6340197"/>
          </a:xfrm>
          <a:prstGeom prst="rect">
            <a:avLst/>
          </a:prstGeom>
          <a:noFill/>
        </p:spPr>
        <p:txBody>
          <a:bodyPr wrap="square" rtlCol="0">
            <a:spAutoFit/>
          </a:bodyPr>
          <a:lstStyle/>
          <a:p>
            <a:r>
              <a:rPr lang="en-US" sz="1400" b="1" dirty="0" smtClean="0"/>
              <a:t>📅     </a:t>
            </a:r>
            <a:r>
              <a:rPr lang="en-US" sz="1400" b="1" dirty="0" err="1" smtClean="0"/>
              <a:t>standardize_null_values</a:t>
            </a:r>
            <a:endParaRPr lang="en-US" sz="1400" b="1" dirty="0" smtClean="0"/>
          </a:p>
          <a:p>
            <a:endParaRPr lang="en-US" sz="1400" b="1" dirty="0" smtClean="0"/>
          </a:p>
          <a:p>
            <a:r>
              <a:rPr lang="en-GB" sz="1400" dirty="0" smtClean="0"/>
              <a:t>Converts Invalid String data to nulls</a:t>
            </a:r>
          </a:p>
          <a:p>
            <a:endParaRPr lang="en-US" sz="1400" dirty="0" smtClean="0"/>
          </a:p>
          <a:p>
            <a:r>
              <a:rPr lang="en-US" sz="1400" b="1" dirty="0" smtClean="0"/>
              <a:t>📧    </a:t>
            </a:r>
            <a:r>
              <a:rPr lang="en-US" sz="1400" b="1" dirty="0" err="1" smtClean="0"/>
              <a:t>validate_email_columns</a:t>
            </a:r>
            <a:r>
              <a:rPr lang="en-US" sz="1400" b="1" dirty="0" smtClean="0"/>
              <a:t>()</a:t>
            </a:r>
          </a:p>
          <a:p>
            <a:endParaRPr lang="en-US" sz="1400" b="1" dirty="0" smtClean="0"/>
          </a:p>
          <a:p>
            <a:r>
              <a:rPr lang="en-US" sz="1400" dirty="0" smtClean="0"/>
              <a:t>Validates email format using </a:t>
            </a:r>
            <a:r>
              <a:rPr lang="en-US" sz="1400" dirty="0" err="1" smtClean="0"/>
              <a:t>Regex</a:t>
            </a:r>
            <a:r>
              <a:rPr lang="en-US" sz="1400" dirty="0" smtClean="0"/>
              <a:t>. </a:t>
            </a:r>
          </a:p>
          <a:p>
            <a:r>
              <a:rPr lang="en-US" sz="1400" dirty="0" smtClean="0"/>
              <a:t>Convert invalid email addresses into null. </a:t>
            </a:r>
          </a:p>
          <a:p>
            <a:endParaRPr lang="en-US" sz="1400" dirty="0" smtClean="0"/>
          </a:p>
          <a:p>
            <a:r>
              <a:rPr lang="en-US" sz="1400" b="1" dirty="0" smtClean="0"/>
              <a:t>➕ </a:t>
            </a:r>
            <a:r>
              <a:rPr lang="en-US" sz="1400" b="1" dirty="0" err="1" smtClean="0"/>
              <a:t>validate_positive_values</a:t>
            </a:r>
            <a:r>
              <a:rPr lang="en-US" sz="1400" b="1" dirty="0" smtClean="0"/>
              <a:t>()</a:t>
            </a:r>
          </a:p>
          <a:p>
            <a:endParaRPr lang="en-US" sz="1400" b="1" dirty="0" smtClean="0"/>
          </a:p>
          <a:p>
            <a:r>
              <a:rPr lang="en-US" sz="1400" dirty="0" smtClean="0"/>
              <a:t>Ensures business fields contain positive values. </a:t>
            </a:r>
          </a:p>
          <a:p>
            <a:r>
              <a:rPr lang="en-US" sz="1400" dirty="0" smtClean="0"/>
              <a:t>Example: Quantity, </a:t>
            </a:r>
            <a:r>
              <a:rPr lang="en-US" sz="1400" dirty="0" err="1" smtClean="0"/>
              <a:t>UnitPrice</a:t>
            </a:r>
            <a:r>
              <a:rPr lang="en-US" sz="1400" dirty="0" smtClean="0"/>
              <a:t>, </a:t>
            </a:r>
            <a:r>
              <a:rPr lang="en-US" sz="1400" dirty="0" err="1" smtClean="0"/>
              <a:t>ExchangeRate</a:t>
            </a:r>
            <a:r>
              <a:rPr lang="en-US" sz="1400" dirty="0" smtClean="0"/>
              <a:t>. </a:t>
            </a:r>
          </a:p>
          <a:p>
            <a:endParaRPr lang="en-US" sz="1400" dirty="0" smtClean="0"/>
          </a:p>
          <a:p>
            <a:r>
              <a:rPr lang="en-US" sz="1400" b="1" dirty="0" smtClean="0"/>
              <a:t>💼    </a:t>
            </a:r>
            <a:r>
              <a:rPr lang="en-US" sz="1400" b="1" dirty="0" err="1" smtClean="0"/>
              <a:t>apply_business_rules</a:t>
            </a:r>
            <a:r>
              <a:rPr lang="en-US" sz="1400" b="1" dirty="0" smtClean="0"/>
              <a:t>()</a:t>
            </a:r>
          </a:p>
          <a:p>
            <a:endParaRPr lang="en-US" sz="1400" b="1" dirty="0" smtClean="0"/>
          </a:p>
          <a:p>
            <a:r>
              <a:rPr lang="en-US" sz="1400" dirty="0" smtClean="0"/>
              <a:t>Executes dataset-specific business validations. </a:t>
            </a:r>
          </a:p>
          <a:p>
            <a:r>
              <a:rPr lang="en-US" sz="1400" dirty="0" smtClean="0"/>
              <a:t>Convert records violating business conditions to null. </a:t>
            </a:r>
          </a:p>
          <a:p>
            <a:endParaRPr lang="en-GB" sz="1400" dirty="0"/>
          </a:p>
          <a:p>
            <a:r>
              <a:rPr lang="en-US" sz="1400" b="1" dirty="0" smtClean="0"/>
              <a:t>✅ </a:t>
            </a:r>
            <a:r>
              <a:rPr lang="en-US" sz="1400" b="1" dirty="0" err="1" smtClean="0"/>
              <a:t>validate_mandatory_columns</a:t>
            </a:r>
            <a:r>
              <a:rPr lang="en-US" sz="1400" b="1" dirty="0" smtClean="0"/>
              <a:t>()</a:t>
            </a:r>
          </a:p>
          <a:p>
            <a:r>
              <a:rPr lang="en-US" sz="1400" dirty="0" smtClean="0"/>
              <a:t>Verifies mandatory fields. </a:t>
            </a:r>
          </a:p>
          <a:p>
            <a:r>
              <a:rPr lang="en-US" sz="1400" dirty="0" smtClean="0"/>
              <a:t>Rejects records with missing required values. </a:t>
            </a:r>
          </a:p>
          <a:p>
            <a:endParaRPr lang="en-GB" sz="1400" dirty="0" smtClean="0"/>
          </a:p>
          <a:p>
            <a:r>
              <a:rPr lang="en-US" sz="1400" b="1" dirty="0" smtClean="0"/>
              <a:t>🔑    </a:t>
            </a:r>
            <a:r>
              <a:rPr lang="en-US" sz="1400" b="1" dirty="0" err="1" smtClean="0"/>
              <a:t>validate_foreign_key</a:t>
            </a:r>
            <a:r>
              <a:rPr lang="en-US" sz="1400" b="1" dirty="0" smtClean="0"/>
              <a:t>()</a:t>
            </a:r>
          </a:p>
          <a:p>
            <a:endParaRPr lang="en-US" sz="1400" b="1" dirty="0" smtClean="0"/>
          </a:p>
          <a:p>
            <a:r>
              <a:rPr lang="en-US" sz="1400" dirty="0" smtClean="0"/>
              <a:t>Checks for relationship between tables</a:t>
            </a:r>
          </a:p>
          <a:p>
            <a:endParaRPr lang="en-US" sz="1400" dirty="0" smtClean="0"/>
          </a:p>
          <a:p>
            <a:endParaRPr lang="en-US" sz="1400" dirty="0" smtClean="0"/>
          </a:p>
          <a:p>
            <a:endParaRPr lang="en-US" sz="1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260648"/>
            <a:ext cx="8208912" cy="6555641"/>
          </a:xfrm>
          <a:prstGeom prst="rect">
            <a:avLst/>
          </a:prstGeom>
          <a:noFill/>
        </p:spPr>
        <p:txBody>
          <a:bodyPr wrap="square" rtlCol="0">
            <a:spAutoFit/>
          </a:bodyPr>
          <a:lstStyle/>
          <a:p>
            <a:r>
              <a:rPr lang="en-GB" sz="1400" b="1" dirty="0" smtClean="0"/>
              <a:t>✔ </a:t>
            </a:r>
            <a:r>
              <a:rPr lang="en-GB" sz="1400" b="1" dirty="0" err="1" smtClean="0"/>
              <a:t>validate_schema_evolution</a:t>
            </a:r>
            <a:r>
              <a:rPr lang="en-GB" sz="1400" b="1" dirty="0" smtClean="0"/>
              <a:t>()</a:t>
            </a:r>
          </a:p>
          <a:p>
            <a:endParaRPr lang="en-GB" sz="1400" b="1" dirty="0" smtClean="0"/>
          </a:p>
          <a:p>
            <a:r>
              <a:rPr lang="en-GB" sz="1400" dirty="0" smtClean="0"/>
              <a:t>Verifies that the incoming dataset matches the expected schema. </a:t>
            </a:r>
          </a:p>
          <a:p>
            <a:r>
              <a:rPr lang="en-GB" sz="1400" dirty="0" smtClean="0"/>
              <a:t>Checks column names and data types. </a:t>
            </a:r>
          </a:p>
          <a:p>
            <a:r>
              <a:rPr lang="en-GB" sz="1400" dirty="0" smtClean="0"/>
              <a:t>Rejects records or flags schema mismatches. </a:t>
            </a:r>
          </a:p>
          <a:p>
            <a:endParaRPr lang="en-US" sz="1400" b="1" dirty="0" smtClean="0"/>
          </a:p>
          <a:p>
            <a:r>
              <a:rPr lang="en-US" sz="1400" b="1" dirty="0" smtClean="0"/>
              <a:t>🚫    </a:t>
            </a:r>
            <a:r>
              <a:rPr lang="en-US" sz="1400" b="1" dirty="0" err="1" smtClean="0"/>
              <a:t>capture_rejected_records</a:t>
            </a:r>
            <a:r>
              <a:rPr lang="en-US" sz="1400" b="1" dirty="0" smtClean="0"/>
              <a:t>()</a:t>
            </a:r>
          </a:p>
          <a:p>
            <a:endParaRPr lang="en-US" sz="1400" b="1" dirty="0" smtClean="0"/>
          </a:p>
          <a:p>
            <a:r>
              <a:rPr lang="en-US" sz="1400" dirty="0" smtClean="0"/>
              <a:t>Stores invalid records separately. </a:t>
            </a:r>
          </a:p>
          <a:p>
            <a:r>
              <a:rPr lang="en-US" sz="1400" dirty="0" smtClean="0"/>
              <a:t>Records rejection reason for analysis. </a:t>
            </a:r>
          </a:p>
          <a:p>
            <a:endParaRPr lang="en-GB" sz="1400" dirty="0"/>
          </a:p>
          <a:p>
            <a:r>
              <a:rPr lang="en-GB" sz="1400" b="1" dirty="0" smtClean="0"/>
              <a:t>📝    </a:t>
            </a:r>
            <a:r>
              <a:rPr lang="en-GB" sz="1400" b="1" dirty="0" err="1" smtClean="0"/>
              <a:t>add_audit_columns</a:t>
            </a:r>
            <a:r>
              <a:rPr lang="en-GB" sz="1400" b="1" dirty="0" smtClean="0"/>
              <a:t>()</a:t>
            </a:r>
          </a:p>
          <a:p>
            <a:endParaRPr lang="en-GB" sz="1400" b="1" dirty="0" smtClean="0"/>
          </a:p>
          <a:p>
            <a:r>
              <a:rPr lang="en-GB" sz="1400" dirty="0" smtClean="0">
                <a:latin typeface="Times New Roman" pitchFamily="18" charset="0"/>
                <a:cs typeface="Times New Roman" pitchFamily="18" charset="0"/>
              </a:rPr>
              <a:t>Adds technical columns such as:</a:t>
            </a:r>
          </a:p>
          <a:p>
            <a:r>
              <a:rPr lang="en-US" sz="1400" dirty="0"/>
              <a:t>_</a:t>
            </a:r>
            <a:r>
              <a:rPr lang="en-US" sz="1400" dirty="0" err="1" smtClean="0"/>
              <a:t>IsRejected</a:t>
            </a:r>
            <a:endParaRPr lang="en-US" sz="1400" dirty="0" smtClean="0"/>
          </a:p>
          <a:p>
            <a:r>
              <a:rPr lang="en-US" sz="1400" dirty="0"/>
              <a:t>_</a:t>
            </a:r>
            <a:r>
              <a:rPr lang="en-US" sz="1400" dirty="0" err="1"/>
              <a:t>ProcessedTimestamp</a:t>
            </a:r>
            <a:endParaRPr lang="en-US" sz="1400" dirty="0" smtClean="0"/>
          </a:p>
          <a:p>
            <a:endParaRPr lang="en-US" sz="1400" dirty="0" smtClean="0"/>
          </a:p>
          <a:p>
            <a:r>
              <a:rPr lang="en-US" sz="1400" b="1" dirty="0" smtClean="0"/>
              <a:t>💾     </a:t>
            </a:r>
            <a:r>
              <a:rPr lang="en-US" sz="1400" b="1" dirty="0" err="1" smtClean="0"/>
              <a:t>write_delta</a:t>
            </a:r>
            <a:r>
              <a:rPr lang="en-US" sz="1400" b="1" dirty="0" smtClean="0"/>
              <a:t>()</a:t>
            </a:r>
          </a:p>
          <a:p>
            <a:endParaRPr lang="en-US" sz="1400" b="1" dirty="0" smtClean="0"/>
          </a:p>
          <a:p>
            <a:r>
              <a:rPr lang="en-US" sz="1400" dirty="0" smtClean="0"/>
              <a:t>Writes only validated records. </a:t>
            </a:r>
          </a:p>
          <a:p>
            <a:r>
              <a:rPr lang="en-US" sz="1400" dirty="0" smtClean="0"/>
              <a:t>Stores data in Silver Delta tables. </a:t>
            </a:r>
          </a:p>
          <a:p>
            <a:endParaRPr lang="en-US" sz="1400" b="1" dirty="0" smtClean="0"/>
          </a:p>
          <a:p>
            <a:r>
              <a:rPr lang="en-US" sz="1400" b="1" dirty="0" smtClean="0"/>
              <a:t>📝    </a:t>
            </a:r>
            <a:r>
              <a:rPr lang="en-US" sz="1400" b="1" dirty="0" err="1" smtClean="0"/>
              <a:t>write_audit_log</a:t>
            </a:r>
            <a:r>
              <a:rPr lang="en-US" sz="1400" b="1" dirty="0" smtClean="0"/>
              <a:t>()</a:t>
            </a:r>
          </a:p>
          <a:p>
            <a:endParaRPr lang="en-US" sz="1400" b="1" dirty="0" smtClean="0"/>
          </a:p>
          <a:p>
            <a:r>
              <a:rPr lang="en-US" sz="1400" dirty="0" smtClean="0"/>
              <a:t>Stores execution details. </a:t>
            </a:r>
          </a:p>
          <a:p>
            <a:r>
              <a:rPr lang="en-US" sz="1400" dirty="0" smtClean="0"/>
              <a:t>Captures source count, target count, rejected count, and status.</a:t>
            </a:r>
          </a:p>
          <a:p>
            <a:endParaRPr lang="en-US" sz="1400" dirty="0" smtClean="0"/>
          </a:p>
          <a:p>
            <a:endParaRPr lang="en-US" sz="1400" dirty="0" smtClean="0"/>
          </a:p>
          <a:p>
            <a:endParaRPr lang="en-US" sz="1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332656"/>
            <a:ext cx="5400600" cy="369332"/>
          </a:xfrm>
          <a:prstGeom prst="rect">
            <a:avLst/>
          </a:prstGeom>
          <a:noFill/>
        </p:spPr>
        <p:txBody>
          <a:bodyPr wrap="square" rtlCol="0">
            <a:spAutoFit/>
          </a:bodyPr>
          <a:lstStyle/>
          <a:p>
            <a:r>
              <a:rPr lang="en-GB" dirty="0" smtClean="0"/>
              <a:t>Pipeline : Gold Layer</a:t>
            </a:r>
            <a:endParaRPr lang="en-US" dirty="0"/>
          </a:p>
        </p:txBody>
      </p:sp>
      <p:pic>
        <p:nvPicPr>
          <p:cNvPr id="3" name="Picture 2" descr="Gold_Pipeline.png"/>
          <p:cNvPicPr>
            <a:picLocks noChangeAspect="1"/>
          </p:cNvPicPr>
          <p:nvPr/>
        </p:nvPicPr>
        <p:blipFill>
          <a:blip r:embed="rId2" cstate="print"/>
          <a:stretch>
            <a:fillRect/>
          </a:stretch>
        </p:blipFill>
        <p:spPr>
          <a:xfrm>
            <a:off x="1403648" y="1268760"/>
            <a:ext cx="6156176" cy="2872882"/>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188640"/>
            <a:ext cx="8064896" cy="6986528"/>
          </a:xfrm>
          <a:prstGeom prst="rect">
            <a:avLst/>
          </a:prstGeom>
          <a:noFill/>
        </p:spPr>
        <p:txBody>
          <a:bodyPr wrap="square" rtlCol="0">
            <a:spAutoFit/>
          </a:bodyPr>
          <a:lstStyle/>
          <a:p>
            <a:r>
              <a:rPr lang="en-US" sz="1400" b="1" dirty="0" smtClean="0"/>
              <a:t>⚙️ Processing Steps</a:t>
            </a:r>
          </a:p>
          <a:p>
            <a:endParaRPr lang="en-US" sz="1400" b="1" dirty="0" smtClean="0"/>
          </a:p>
          <a:p>
            <a:r>
              <a:rPr lang="en-US" sz="1400" b="1" dirty="0" smtClean="0"/>
              <a:t>📂       </a:t>
            </a:r>
            <a:r>
              <a:rPr lang="en-US" sz="1400" b="1" dirty="0" err="1" smtClean="0"/>
              <a:t>read_delta</a:t>
            </a:r>
            <a:r>
              <a:rPr lang="en-US" sz="1400" b="1" dirty="0" smtClean="0"/>
              <a:t>()</a:t>
            </a:r>
          </a:p>
          <a:p>
            <a:r>
              <a:rPr lang="en-US" sz="1400" dirty="0" smtClean="0"/>
              <a:t>Reads validated Silver Delta tables. </a:t>
            </a:r>
          </a:p>
          <a:p>
            <a:r>
              <a:rPr lang="en-US" sz="1400" dirty="0" smtClean="0"/>
              <a:t>Loads data into Spark </a:t>
            </a:r>
            <a:r>
              <a:rPr lang="en-US" sz="1400" dirty="0" err="1" smtClean="0"/>
              <a:t>DataFrame</a:t>
            </a:r>
            <a:r>
              <a:rPr lang="en-US" sz="1400" dirty="0" smtClean="0"/>
              <a:t>. </a:t>
            </a:r>
          </a:p>
          <a:p>
            <a:endParaRPr lang="en-US" sz="1400" dirty="0" smtClean="0"/>
          </a:p>
          <a:p>
            <a:r>
              <a:rPr lang="en-US" sz="1400" b="1" dirty="0" smtClean="0"/>
              <a:t>📑     </a:t>
            </a:r>
            <a:r>
              <a:rPr lang="en-US" sz="1400" b="1" dirty="0" err="1" smtClean="0"/>
              <a:t>get_dataset_config</a:t>
            </a:r>
            <a:r>
              <a:rPr lang="en-US" sz="1400" b="1" dirty="0" smtClean="0"/>
              <a:t>()</a:t>
            </a:r>
          </a:p>
          <a:p>
            <a:r>
              <a:rPr lang="en-US" sz="1400" dirty="0" smtClean="0"/>
              <a:t>Reads Gold configuration from metadata. </a:t>
            </a:r>
          </a:p>
          <a:p>
            <a:r>
              <a:rPr lang="en-US" sz="1400" dirty="0" smtClean="0"/>
              <a:t>Identifies </a:t>
            </a:r>
          </a:p>
          <a:p>
            <a:pPr lvl="1"/>
            <a:r>
              <a:rPr lang="en-US" sz="1400" dirty="0" smtClean="0"/>
              <a:t>Table Type </a:t>
            </a:r>
          </a:p>
          <a:p>
            <a:pPr lvl="1"/>
            <a:r>
              <a:rPr lang="en-US" sz="1400" dirty="0" smtClean="0"/>
              <a:t>Target Table </a:t>
            </a:r>
          </a:p>
          <a:p>
            <a:pPr lvl="1"/>
            <a:r>
              <a:rPr lang="en-US" sz="1400" dirty="0" smtClean="0"/>
              <a:t>SCD Configuration </a:t>
            </a:r>
          </a:p>
          <a:p>
            <a:pPr lvl="1"/>
            <a:r>
              <a:rPr lang="en-US" sz="1400" dirty="0" smtClean="0"/>
              <a:t>Surrogate Key </a:t>
            </a:r>
          </a:p>
          <a:p>
            <a:pPr lvl="1"/>
            <a:r>
              <a:rPr lang="en-US" sz="1400" dirty="0" smtClean="0"/>
              <a:t>Publish Settings </a:t>
            </a:r>
          </a:p>
          <a:p>
            <a:pPr lvl="1"/>
            <a:endParaRPr lang="en-US" sz="1400" dirty="0" smtClean="0"/>
          </a:p>
          <a:p>
            <a:r>
              <a:rPr lang="en-US" sz="1400" b="1" dirty="0" smtClean="0"/>
              <a:t>🏗      </a:t>
            </a:r>
            <a:r>
              <a:rPr lang="en-US" sz="1400" b="1" dirty="0" err="1" smtClean="0"/>
              <a:t>process_dimension</a:t>
            </a:r>
            <a:r>
              <a:rPr lang="en-US" sz="1400" b="1" dirty="0" smtClean="0"/>
              <a:t>()</a:t>
            </a:r>
          </a:p>
          <a:p>
            <a:endParaRPr lang="en-US" sz="1400" b="1" dirty="0" smtClean="0"/>
          </a:p>
          <a:p>
            <a:r>
              <a:rPr lang="en-US" sz="1400" dirty="0" smtClean="0"/>
              <a:t>Identifies Dimension datasets. </a:t>
            </a:r>
          </a:p>
          <a:p>
            <a:r>
              <a:rPr lang="en-US" sz="1400" dirty="0" smtClean="0"/>
              <a:t>Creates Gold Dimension tables. </a:t>
            </a:r>
          </a:p>
          <a:p>
            <a:r>
              <a:rPr lang="en-US" sz="1400" dirty="0" smtClean="0"/>
              <a:t>Generates Surrogate Keys. </a:t>
            </a:r>
          </a:p>
          <a:p>
            <a:r>
              <a:rPr lang="en-US" sz="1400" dirty="0" smtClean="0"/>
              <a:t>Executes SCD processing if enabled. </a:t>
            </a:r>
          </a:p>
          <a:p>
            <a:r>
              <a:rPr lang="en-US" sz="1400" dirty="0" smtClean="0"/>
              <a:t>Example</a:t>
            </a:r>
          </a:p>
          <a:p>
            <a:r>
              <a:rPr lang="en-US" sz="1400" dirty="0" smtClean="0"/>
              <a:t>Customers-&gt;Dimension Table</a:t>
            </a:r>
          </a:p>
          <a:p>
            <a:endParaRPr lang="en-GB" sz="1400" dirty="0" smtClean="0"/>
          </a:p>
          <a:p>
            <a:r>
              <a:rPr lang="en-US" sz="1400" b="1" dirty="0" smtClean="0"/>
              <a:t>🔄    </a:t>
            </a:r>
            <a:r>
              <a:rPr lang="en-US" sz="1400" b="1" dirty="0" err="1" smtClean="0"/>
              <a:t>process_scd</a:t>
            </a:r>
            <a:r>
              <a:rPr lang="en-US" sz="1400" b="1" dirty="0" smtClean="0"/>
              <a:t>()</a:t>
            </a:r>
          </a:p>
          <a:p>
            <a:r>
              <a:rPr lang="en-US" sz="1400" dirty="0" smtClean="0"/>
              <a:t>Reads SCD configuration. </a:t>
            </a:r>
          </a:p>
          <a:p>
            <a:r>
              <a:rPr lang="en-US" sz="1400" dirty="0" smtClean="0"/>
              <a:t>Detects changes in tracked columns. </a:t>
            </a:r>
          </a:p>
          <a:p>
            <a:r>
              <a:rPr lang="en-US" sz="1400" dirty="0" smtClean="0"/>
              <a:t>Maintains historical records. </a:t>
            </a:r>
          </a:p>
          <a:p>
            <a:r>
              <a:rPr lang="en-US" sz="1400" dirty="0" smtClean="0"/>
              <a:t>Updates Current Flag and Effective Dates. </a:t>
            </a:r>
          </a:p>
          <a:p>
            <a:r>
              <a:rPr lang="en-US" sz="1400" dirty="0" smtClean="0"/>
              <a:t>Only executed for Customers</a:t>
            </a:r>
          </a:p>
          <a:p>
            <a:endParaRPr lang="en-US" sz="1400" dirty="0" smtClean="0"/>
          </a:p>
          <a:p>
            <a:endParaRPr lang="en-US" sz="1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260648"/>
            <a:ext cx="4572000" cy="3108543"/>
          </a:xfrm>
          <a:prstGeom prst="rect">
            <a:avLst/>
          </a:prstGeom>
        </p:spPr>
        <p:txBody>
          <a:bodyPr>
            <a:spAutoFit/>
          </a:bodyPr>
          <a:lstStyle/>
          <a:p>
            <a:r>
              <a:rPr lang="en-US" sz="1400" b="1" dirty="0" smtClean="0"/>
              <a:t>💾    </a:t>
            </a:r>
            <a:r>
              <a:rPr lang="en-US" sz="1400" b="1" dirty="0" err="1" smtClean="0"/>
              <a:t>write_delta</a:t>
            </a:r>
            <a:r>
              <a:rPr lang="en-US" sz="1400" b="1" dirty="0" smtClean="0"/>
              <a:t>()</a:t>
            </a:r>
          </a:p>
          <a:p>
            <a:endParaRPr lang="en-US" sz="1400" b="1" dirty="0" smtClean="0"/>
          </a:p>
          <a:p>
            <a:r>
              <a:rPr lang="en-US" sz="1400" dirty="0" smtClean="0"/>
              <a:t> Stores </a:t>
            </a:r>
            <a:r>
              <a:rPr lang="en-US" sz="1400" dirty="0" err="1" smtClean="0"/>
              <a:t>curated</a:t>
            </a:r>
            <a:r>
              <a:rPr lang="en-US" sz="1400" dirty="0" smtClean="0"/>
              <a:t> tables in Gold. </a:t>
            </a:r>
          </a:p>
          <a:p>
            <a:endParaRPr lang="en-US" sz="1400" dirty="0" smtClean="0"/>
          </a:p>
          <a:p>
            <a:r>
              <a:rPr lang="en-US" sz="1400" b="1" dirty="0" smtClean="0"/>
              <a:t>📝    </a:t>
            </a:r>
            <a:r>
              <a:rPr lang="en-US" sz="1400" b="1" dirty="0" err="1" smtClean="0"/>
              <a:t>write_audit_log</a:t>
            </a:r>
            <a:r>
              <a:rPr lang="en-US" sz="1400" b="1" dirty="0" smtClean="0"/>
              <a:t>()</a:t>
            </a:r>
          </a:p>
          <a:p>
            <a:endParaRPr lang="en-US" sz="1400" b="1" dirty="0" smtClean="0"/>
          </a:p>
          <a:p>
            <a:r>
              <a:rPr lang="en-US" sz="1400" dirty="0" smtClean="0"/>
              <a:t>Stores execution details. </a:t>
            </a:r>
          </a:p>
          <a:p>
            <a:r>
              <a:rPr lang="en-US" sz="1400" dirty="0" smtClean="0"/>
              <a:t>Tracks successful Gold processing.</a:t>
            </a:r>
          </a:p>
          <a:p>
            <a:endParaRPr lang="en-US" sz="1400" dirty="0" smtClean="0"/>
          </a:p>
          <a:p>
            <a:r>
              <a:rPr lang="en-US" sz="1400" b="1" dirty="0" smtClean="0"/>
              <a:t>📊    </a:t>
            </a:r>
            <a:r>
              <a:rPr lang="en-US" sz="1400" b="1" dirty="0" err="1" smtClean="0"/>
              <a:t>process_fact</a:t>
            </a:r>
            <a:r>
              <a:rPr lang="en-US" sz="1400" b="1" dirty="0" smtClean="0"/>
              <a:t>()</a:t>
            </a:r>
          </a:p>
          <a:p>
            <a:endParaRPr lang="en-US" sz="1400" b="1" dirty="0" smtClean="0"/>
          </a:p>
          <a:p>
            <a:r>
              <a:rPr lang="en-US" sz="1400" dirty="0" smtClean="0"/>
              <a:t>Identifies Fact datasets. </a:t>
            </a:r>
          </a:p>
          <a:p>
            <a:r>
              <a:rPr lang="en-US" sz="1400" dirty="0" smtClean="0"/>
              <a:t>Creates analytical Fact tables. </a:t>
            </a:r>
          </a:p>
          <a:p>
            <a:endParaRPr lang="en-US" sz="14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404664"/>
            <a:ext cx="5040560" cy="369332"/>
          </a:xfrm>
          <a:prstGeom prst="rect">
            <a:avLst/>
          </a:prstGeom>
          <a:noFill/>
        </p:spPr>
        <p:txBody>
          <a:bodyPr wrap="square" rtlCol="0">
            <a:spAutoFit/>
          </a:bodyPr>
          <a:lstStyle/>
          <a:p>
            <a:r>
              <a:rPr lang="en-GB" dirty="0" smtClean="0"/>
              <a:t>Gold to </a:t>
            </a:r>
            <a:r>
              <a:rPr lang="en-GB" dirty="0" err="1" smtClean="0"/>
              <a:t>Sql</a:t>
            </a:r>
            <a:r>
              <a:rPr lang="en-GB" dirty="0" smtClean="0"/>
              <a:t> </a:t>
            </a:r>
            <a:endParaRPr lang="en-US" dirty="0"/>
          </a:p>
        </p:txBody>
      </p:sp>
      <p:pic>
        <p:nvPicPr>
          <p:cNvPr id="4" name="Picture 3" descr="Gold_To_Sql.png"/>
          <p:cNvPicPr>
            <a:picLocks noChangeAspect="1"/>
          </p:cNvPicPr>
          <p:nvPr/>
        </p:nvPicPr>
        <p:blipFill>
          <a:blip r:embed="rId2" cstate="print"/>
          <a:stretch>
            <a:fillRect/>
          </a:stretch>
        </p:blipFill>
        <p:spPr>
          <a:xfrm>
            <a:off x="899592" y="1124744"/>
            <a:ext cx="6228184" cy="2734663"/>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ster_Pipeline (1).png"/>
          <p:cNvPicPr>
            <a:picLocks noChangeAspect="1"/>
          </p:cNvPicPr>
          <p:nvPr/>
        </p:nvPicPr>
        <p:blipFill>
          <a:blip r:embed="rId2" cstate="print"/>
          <a:stretch>
            <a:fillRect/>
          </a:stretch>
        </p:blipFill>
        <p:spPr>
          <a:xfrm>
            <a:off x="539552" y="980728"/>
            <a:ext cx="8064896" cy="3554347"/>
          </a:xfrm>
          <a:prstGeom prst="rect">
            <a:avLst/>
          </a:prstGeom>
        </p:spPr>
      </p:pic>
      <p:sp>
        <p:nvSpPr>
          <p:cNvPr id="3" name="TextBox 2"/>
          <p:cNvSpPr txBox="1"/>
          <p:nvPr/>
        </p:nvSpPr>
        <p:spPr>
          <a:xfrm>
            <a:off x="611560" y="476672"/>
            <a:ext cx="3888432" cy="369332"/>
          </a:xfrm>
          <a:prstGeom prst="rect">
            <a:avLst/>
          </a:prstGeom>
          <a:noFill/>
        </p:spPr>
        <p:txBody>
          <a:bodyPr wrap="square" rtlCol="0">
            <a:spAutoFit/>
          </a:bodyPr>
          <a:lstStyle/>
          <a:p>
            <a:r>
              <a:rPr lang="en-GB" dirty="0" smtClean="0"/>
              <a:t>Master Pipeline</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548680"/>
            <a:ext cx="4824536" cy="369332"/>
          </a:xfrm>
          <a:prstGeom prst="rect">
            <a:avLst/>
          </a:prstGeom>
          <a:noFill/>
        </p:spPr>
        <p:txBody>
          <a:bodyPr wrap="square" rtlCol="0">
            <a:spAutoFit/>
          </a:bodyPr>
          <a:lstStyle/>
          <a:p>
            <a:r>
              <a:rPr lang="en-GB" dirty="0" smtClean="0"/>
              <a:t>Azure </a:t>
            </a:r>
            <a:r>
              <a:rPr lang="en-GB" dirty="0" err="1" smtClean="0"/>
              <a:t>Sql</a:t>
            </a:r>
            <a:r>
              <a:rPr lang="en-GB" dirty="0" smtClean="0"/>
              <a:t> Server</a:t>
            </a:r>
            <a:endParaRPr lang="en-US" dirty="0"/>
          </a:p>
        </p:txBody>
      </p:sp>
      <p:pic>
        <p:nvPicPr>
          <p:cNvPr id="3" name="Picture 2" descr="Azure_Sql_Loaded_Data.png"/>
          <p:cNvPicPr>
            <a:picLocks noChangeAspect="1"/>
          </p:cNvPicPr>
          <p:nvPr/>
        </p:nvPicPr>
        <p:blipFill>
          <a:blip r:embed="rId2" cstate="print"/>
          <a:stretch>
            <a:fillRect/>
          </a:stretch>
        </p:blipFill>
        <p:spPr>
          <a:xfrm>
            <a:off x="1187624" y="1700808"/>
            <a:ext cx="6156176" cy="3129953"/>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etail_Analysis.png"/>
          <p:cNvPicPr>
            <a:picLocks noChangeAspect="1"/>
          </p:cNvPicPr>
          <p:nvPr/>
        </p:nvPicPr>
        <p:blipFill>
          <a:blip r:embed="rId2" cstate="print"/>
          <a:stretch>
            <a:fillRect/>
          </a:stretch>
        </p:blipFill>
        <p:spPr>
          <a:xfrm>
            <a:off x="899592" y="1412776"/>
            <a:ext cx="6510130" cy="3386221"/>
          </a:xfrm>
          <a:prstGeom prst="rect">
            <a:avLst/>
          </a:prstGeom>
        </p:spPr>
      </p:pic>
      <p:sp>
        <p:nvSpPr>
          <p:cNvPr id="3" name="TextBox 2"/>
          <p:cNvSpPr txBox="1"/>
          <p:nvPr/>
        </p:nvSpPr>
        <p:spPr>
          <a:xfrm>
            <a:off x="827584" y="332656"/>
            <a:ext cx="4032448" cy="369332"/>
          </a:xfrm>
          <a:prstGeom prst="rect">
            <a:avLst/>
          </a:prstGeom>
          <a:noFill/>
        </p:spPr>
        <p:txBody>
          <a:bodyPr wrap="square" rtlCol="0">
            <a:spAutoFit/>
          </a:bodyPr>
          <a:lstStyle/>
          <a:p>
            <a:r>
              <a:rPr lang="en-GB" smtClean="0"/>
              <a:t>Retail Analysis</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tGPT Image Jun 30, 2026, 03_13_39 PM.png"/>
          <p:cNvPicPr>
            <a:picLocks noChangeAspect="1"/>
          </p:cNvPicPr>
          <p:nvPr/>
        </p:nvPicPr>
        <p:blipFill>
          <a:blip r:embed="rId2" cstate="print"/>
          <a:stretch>
            <a:fillRect/>
          </a:stretch>
        </p:blipFill>
        <p:spPr>
          <a:xfrm>
            <a:off x="251520" y="1052736"/>
            <a:ext cx="8538337" cy="4680520"/>
          </a:xfrm>
          <a:prstGeom prst="rect">
            <a:avLst/>
          </a:prstGeom>
        </p:spPr>
      </p:pic>
      <p:sp>
        <p:nvSpPr>
          <p:cNvPr id="3" name="TextBox 2"/>
          <p:cNvSpPr txBox="1"/>
          <p:nvPr/>
        </p:nvSpPr>
        <p:spPr>
          <a:xfrm>
            <a:off x="467544" y="332656"/>
            <a:ext cx="4680520" cy="369332"/>
          </a:xfrm>
          <a:prstGeom prst="rect">
            <a:avLst/>
          </a:prstGeom>
          <a:noFill/>
        </p:spPr>
        <p:txBody>
          <a:bodyPr wrap="square" rtlCol="0">
            <a:spAutoFit/>
          </a:bodyPr>
          <a:lstStyle/>
          <a:p>
            <a:r>
              <a:rPr lang="en-GB" b="1" dirty="0" smtClean="0"/>
              <a:t>Executing Flow</a:t>
            </a:r>
            <a:endParaRPr lang="en-US"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1258</TotalTime>
  <Words>1180</Words>
  <Application>Microsoft Office PowerPoint</Application>
  <PresentationFormat>On-screen Show (4:3)</PresentationFormat>
  <Paragraphs>379</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Slide 1</vt:lpstr>
      <vt:lpstr>Enterprise Retail Analytics Platform on Azure </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Retail Analytics Platform on Azure</dc:title>
  <dc:creator>Admin</dc:creator>
  <cp:lastModifiedBy>Admin</cp:lastModifiedBy>
  <cp:revision>97</cp:revision>
  <dcterms:created xsi:type="dcterms:W3CDTF">2026-06-29T13:30:57Z</dcterms:created>
  <dcterms:modified xsi:type="dcterms:W3CDTF">2026-07-01T09:31:02Z</dcterms:modified>
</cp:coreProperties>
</file>